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5" r:id="rId3"/>
    <p:sldId id="2147477537" r:id="rId4"/>
    <p:sldId id="2147477532" r:id="rId5"/>
    <p:sldId id="2147477516" r:id="rId6"/>
    <p:sldId id="2147477533" r:id="rId7"/>
    <p:sldId id="2147477520" r:id="rId8"/>
    <p:sldId id="2147477534" r:id="rId9"/>
    <p:sldId id="2147477511" r:id="rId10"/>
    <p:sldId id="270" r:id="rId11"/>
    <p:sldId id="214747752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C65"/>
    <a:srgbClr val="659ECA"/>
    <a:srgbClr val="00FF19"/>
    <a:srgbClr val="93B9D7"/>
    <a:srgbClr val="F4F4F4"/>
    <a:srgbClr val="0063A9"/>
    <a:srgbClr val="105694"/>
    <a:srgbClr val="0062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08408C-CF93-EF42-A303-9D88CB1AF16C}" v="2389" dt="2025-12-11T19:50:19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88"/>
    <p:restoredTop sz="72654"/>
  </p:normalViewPr>
  <p:slideViewPr>
    <p:cSldViewPr snapToGrid="0">
      <p:cViewPr>
        <p:scale>
          <a:sx n="97" d="100"/>
          <a:sy n="97" d="100"/>
        </p:scale>
        <p:origin x="920" y="46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Stephen" userId="56e4b450858bfbac" providerId="LiveId" clId="{5EE1DC98-A9A9-5399-A5C8-243DA6A2AD8F}"/>
    <pc:docChg chg="undo custSel addSld delSld modSld sldOrd modMainMaster">
      <pc:chgData name="John Stephen" userId="56e4b450858bfbac" providerId="LiveId" clId="{5EE1DC98-A9A9-5399-A5C8-243DA6A2AD8F}" dt="2025-12-11T20:45:57.826" v="3177" actId="20577"/>
      <pc:docMkLst>
        <pc:docMk/>
      </pc:docMkLst>
      <pc:sldChg chg="addSp delSp modSp mod modNotesTx">
        <pc:chgData name="John Stephen" userId="56e4b450858bfbac" providerId="LiveId" clId="{5EE1DC98-A9A9-5399-A5C8-243DA6A2AD8F}" dt="2025-12-11T18:50:58.228" v="2612" actId="14100"/>
        <pc:sldMkLst>
          <pc:docMk/>
          <pc:sldMk cId="1902951969" sldId="256"/>
        </pc:sldMkLst>
        <pc:spChg chg="mod">
          <ac:chgData name="John Stephen" userId="56e4b450858bfbac" providerId="LiveId" clId="{5EE1DC98-A9A9-5399-A5C8-243DA6A2AD8F}" dt="2025-12-11T18:21:16.378" v="2364" actId="20577"/>
          <ac:spMkLst>
            <pc:docMk/>
            <pc:sldMk cId="1902951969" sldId="256"/>
            <ac:spMk id="2" creationId="{586463ED-E7AF-06AB-05D6-71FF78EFB73F}"/>
          </ac:spMkLst>
        </pc:spChg>
        <pc:spChg chg="add del mod">
          <ac:chgData name="John Stephen" userId="56e4b450858bfbac" providerId="LiveId" clId="{5EE1DC98-A9A9-5399-A5C8-243DA6A2AD8F}" dt="2025-12-11T18:50:47.501" v="2610" actId="478"/>
          <ac:spMkLst>
            <pc:docMk/>
            <pc:sldMk cId="1902951969" sldId="256"/>
            <ac:spMk id="3" creationId="{719776FF-4A7C-97EC-35B4-04D532B77BA8}"/>
          </ac:spMkLst>
        </pc:spChg>
        <pc:spChg chg="mod">
          <ac:chgData name="John Stephen" userId="56e4b450858bfbac" providerId="LiveId" clId="{5EE1DC98-A9A9-5399-A5C8-243DA6A2AD8F}" dt="2025-12-11T18:50:18.910" v="2605" actId="1076"/>
          <ac:spMkLst>
            <pc:docMk/>
            <pc:sldMk cId="1902951969" sldId="256"/>
            <ac:spMk id="26" creationId="{DB1EA021-C883-5EB7-37B1-A18B14156D38}"/>
          </ac:spMkLst>
        </pc:spChg>
        <pc:picChg chg="mod">
          <ac:chgData name="John Stephen" userId="56e4b450858bfbac" providerId="LiveId" clId="{5EE1DC98-A9A9-5399-A5C8-243DA6A2AD8F}" dt="2025-12-11T18:22:52.277" v="2386" actId="1076"/>
          <ac:picMkLst>
            <pc:docMk/>
            <pc:sldMk cId="1902951969" sldId="256"/>
            <ac:picMk id="28" creationId="{EEB1C0CD-3D4A-FA7E-8DE3-7D90E4D46638}"/>
          </ac:picMkLst>
        </pc:picChg>
        <pc:picChg chg="add mod">
          <ac:chgData name="John Stephen" userId="56e4b450858bfbac" providerId="LiveId" clId="{5EE1DC98-A9A9-5399-A5C8-243DA6A2AD8F}" dt="2025-12-11T18:22:58.925" v="2388" actId="1076"/>
          <ac:picMkLst>
            <pc:docMk/>
            <pc:sldMk cId="1902951969" sldId="256"/>
            <ac:picMk id="1026" creationId="{D6CD8F69-687F-14D1-79CF-8890B2999413}"/>
          </ac:picMkLst>
        </pc:picChg>
        <pc:cxnChg chg="add mod">
          <ac:chgData name="John Stephen" userId="56e4b450858bfbac" providerId="LiveId" clId="{5EE1DC98-A9A9-5399-A5C8-243DA6A2AD8F}" dt="2025-12-11T18:50:58.228" v="2612" actId="14100"/>
          <ac:cxnSpMkLst>
            <pc:docMk/>
            <pc:sldMk cId="1902951969" sldId="256"/>
            <ac:cxnSpMk id="6" creationId="{69C723E9-189A-0B6C-FFAD-9B80526CD3B7}"/>
          </ac:cxnSpMkLst>
        </pc:cxnChg>
      </pc:sldChg>
      <pc:sldChg chg="modNotesTx">
        <pc:chgData name="John Stephen" userId="56e4b450858bfbac" providerId="LiveId" clId="{5EE1DC98-A9A9-5399-A5C8-243DA6A2AD8F}" dt="2025-12-11T18:18:58.561" v="2322" actId="20577"/>
        <pc:sldMkLst>
          <pc:docMk/>
          <pc:sldMk cId="3332459205" sldId="275"/>
        </pc:sldMkLst>
      </pc:sldChg>
      <pc:sldChg chg="modSp mod modNotesTx">
        <pc:chgData name="John Stephen" userId="56e4b450858bfbac" providerId="LiveId" clId="{5EE1DC98-A9A9-5399-A5C8-243DA6A2AD8F}" dt="2025-12-11T18:19:32.022" v="2327" actId="20577"/>
        <pc:sldMkLst>
          <pc:docMk/>
          <pc:sldMk cId="3573403367" sldId="2147477511"/>
        </pc:sldMkLst>
        <pc:spChg chg="mod">
          <ac:chgData name="John Stephen" userId="56e4b450858bfbac" providerId="LiveId" clId="{5EE1DC98-A9A9-5399-A5C8-243DA6A2AD8F}" dt="2025-11-19T23:15:59.511" v="1583" actId="20577"/>
          <ac:spMkLst>
            <pc:docMk/>
            <pc:sldMk cId="3573403367" sldId="2147477511"/>
            <ac:spMk id="34" creationId="{DF14D1C8-0C7C-696A-457D-046349315BE1}"/>
          </ac:spMkLst>
        </pc:spChg>
        <pc:spChg chg="mod">
          <ac:chgData name="John Stephen" userId="56e4b450858bfbac" providerId="LiveId" clId="{5EE1DC98-A9A9-5399-A5C8-243DA6A2AD8F}" dt="2025-11-19T23:16:05.026" v="1585" actId="20577"/>
          <ac:spMkLst>
            <pc:docMk/>
            <pc:sldMk cId="3573403367" sldId="2147477511"/>
            <ac:spMk id="38" creationId="{7E71A9B7-6A52-60B6-8BA9-749D343A6B48}"/>
          </ac:spMkLst>
        </pc:spChg>
        <pc:spChg chg="mod">
          <ac:chgData name="John Stephen" userId="56e4b450858bfbac" providerId="LiveId" clId="{5EE1DC98-A9A9-5399-A5C8-243DA6A2AD8F}" dt="2025-11-19T22:24:21.743" v="800" actId="403"/>
          <ac:spMkLst>
            <pc:docMk/>
            <pc:sldMk cId="3573403367" sldId="2147477511"/>
            <ac:spMk id="90" creationId="{1A7970D3-53D4-855E-FE7D-E67D602E4BB3}"/>
          </ac:spMkLst>
        </pc:spChg>
        <pc:spChg chg="mod">
          <ac:chgData name="John Stephen" userId="56e4b450858bfbac" providerId="LiveId" clId="{5EE1DC98-A9A9-5399-A5C8-243DA6A2AD8F}" dt="2025-11-19T22:56:30.874" v="843" actId="20577"/>
          <ac:spMkLst>
            <pc:docMk/>
            <pc:sldMk cId="3573403367" sldId="2147477511"/>
            <ac:spMk id="94" creationId="{CBCACF40-199D-B1D0-45D5-002085859FE2}"/>
          </ac:spMkLst>
        </pc:spChg>
        <pc:spChg chg="mod">
          <ac:chgData name="John Stephen" userId="56e4b450858bfbac" providerId="LiveId" clId="{5EE1DC98-A9A9-5399-A5C8-243DA6A2AD8F}" dt="2025-11-19T20:47:48.535" v="13" actId="1036"/>
          <ac:spMkLst>
            <pc:docMk/>
            <pc:sldMk cId="3573403367" sldId="2147477511"/>
            <ac:spMk id="102" creationId="{CD196C24-B72C-7E89-08C7-5877D9D7FC89}"/>
          </ac:spMkLst>
        </pc:spChg>
        <pc:spChg chg="mod">
          <ac:chgData name="John Stephen" userId="56e4b450858bfbac" providerId="LiveId" clId="{5EE1DC98-A9A9-5399-A5C8-243DA6A2AD8F}" dt="2025-11-19T22:24:05.289" v="797" actId="403"/>
          <ac:spMkLst>
            <pc:docMk/>
            <pc:sldMk cId="3573403367" sldId="2147477511"/>
            <ac:spMk id="111" creationId="{5BF00412-A12C-0A95-6A28-F891D256E2A4}"/>
          </ac:spMkLst>
        </pc:spChg>
        <pc:spChg chg="mod">
          <ac:chgData name="John Stephen" userId="56e4b450858bfbac" providerId="LiveId" clId="{5EE1DC98-A9A9-5399-A5C8-243DA6A2AD8F}" dt="2025-11-19T22:24:18.263" v="799" actId="255"/>
          <ac:spMkLst>
            <pc:docMk/>
            <pc:sldMk cId="3573403367" sldId="2147477511"/>
            <ac:spMk id="112" creationId="{558EDBD5-52F8-882D-8C83-47743C7FB5DD}"/>
          </ac:spMkLst>
        </pc:spChg>
      </pc:sldChg>
      <pc:sldChg chg="add del">
        <pc:chgData name="John Stephen" userId="56e4b450858bfbac" providerId="LiveId" clId="{5EE1DC98-A9A9-5399-A5C8-243DA6A2AD8F}" dt="2025-11-19T23:04:43.012" v="1100" actId="2696"/>
        <pc:sldMkLst>
          <pc:docMk/>
          <pc:sldMk cId="1622893747" sldId="2147477513"/>
        </pc:sldMkLst>
      </pc:sldChg>
      <pc:sldChg chg="addSp delSp modSp mod modNotesTx">
        <pc:chgData name="John Stephen" userId="56e4b450858bfbac" providerId="LiveId" clId="{5EE1DC98-A9A9-5399-A5C8-243DA6A2AD8F}" dt="2025-12-11T18:59:51.194" v="2718" actId="20577"/>
        <pc:sldMkLst>
          <pc:docMk/>
          <pc:sldMk cId="602974448" sldId="2147477516"/>
        </pc:sldMkLst>
        <pc:spChg chg="mod">
          <ac:chgData name="John Stephen" userId="56e4b450858bfbac" providerId="LiveId" clId="{5EE1DC98-A9A9-5399-A5C8-243DA6A2AD8F}" dt="2025-12-11T18:59:38.581" v="2650" actId="20577"/>
          <ac:spMkLst>
            <pc:docMk/>
            <pc:sldMk cId="602974448" sldId="2147477516"/>
            <ac:spMk id="21" creationId="{64008D28-3A48-5A5D-3DD8-D734EB7329BF}"/>
          </ac:spMkLst>
        </pc:spChg>
        <pc:spChg chg="mod">
          <ac:chgData name="John Stephen" userId="56e4b450858bfbac" providerId="LiveId" clId="{5EE1DC98-A9A9-5399-A5C8-243DA6A2AD8F}" dt="2025-11-19T23:24:23.265" v="1672" actId="20577"/>
          <ac:spMkLst>
            <pc:docMk/>
            <pc:sldMk cId="602974448" sldId="2147477516"/>
            <ac:spMk id="23" creationId="{29CDB8E8-1690-13AF-09F7-D32B59E63115}"/>
          </ac:spMkLst>
        </pc:spChg>
        <pc:spChg chg="mod">
          <ac:chgData name="John Stephen" userId="56e4b450858bfbac" providerId="LiveId" clId="{5EE1DC98-A9A9-5399-A5C8-243DA6A2AD8F}" dt="2025-12-11T18:59:29.381" v="2622" actId="20577"/>
          <ac:spMkLst>
            <pc:docMk/>
            <pc:sldMk cId="602974448" sldId="2147477516"/>
            <ac:spMk id="26" creationId="{E8911DBB-FABE-3F06-4DA9-61AB36BFF9E8}"/>
          </ac:spMkLst>
        </pc:spChg>
        <pc:spChg chg="mod">
          <ac:chgData name="John Stephen" userId="56e4b450858bfbac" providerId="LiveId" clId="{5EE1DC98-A9A9-5399-A5C8-243DA6A2AD8F}" dt="2025-11-20T19:52:54.170" v="1935" actId="20577"/>
          <ac:spMkLst>
            <pc:docMk/>
            <pc:sldMk cId="602974448" sldId="2147477516"/>
            <ac:spMk id="39" creationId="{9F650BAD-12EE-7AA7-8433-BCF7128EEA2E}"/>
          </ac:spMkLst>
        </pc:spChg>
        <pc:graphicFrameChg chg="add mod modGraphic">
          <ac:chgData name="John Stephen" userId="56e4b450858bfbac" providerId="LiveId" clId="{5EE1DC98-A9A9-5399-A5C8-243DA6A2AD8F}" dt="2025-11-20T19:44:33.943" v="1818" actId="14100"/>
          <ac:graphicFrameMkLst>
            <pc:docMk/>
            <pc:sldMk cId="602974448" sldId="2147477516"/>
            <ac:graphicFrameMk id="2" creationId="{021CFB16-216E-2DBC-8470-496B6974939F}"/>
          </ac:graphicFrameMkLst>
        </pc:graphicFrameChg>
      </pc:sldChg>
      <pc:sldChg chg="addSp delSp modSp mod modNotesTx">
        <pc:chgData name="John Stephen" userId="56e4b450858bfbac" providerId="LiveId" clId="{5EE1DC98-A9A9-5399-A5C8-243DA6A2AD8F}" dt="2025-12-11T19:50:59.714" v="3073" actId="14100"/>
        <pc:sldMkLst>
          <pc:docMk/>
          <pc:sldMk cId="1039106272" sldId="2147477520"/>
        </pc:sldMkLst>
        <pc:spChg chg="mod">
          <ac:chgData name="John Stephen" userId="56e4b450858bfbac" providerId="LiveId" clId="{5EE1DC98-A9A9-5399-A5C8-243DA6A2AD8F}" dt="2025-11-19T22:25:06.670" v="801"/>
          <ac:spMkLst>
            <pc:docMk/>
            <pc:sldMk cId="1039106272" sldId="2147477520"/>
            <ac:spMk id="14" creationId="{DDC8CC7F-928D-292F-36A7-1B19A4BA4B28}"/>
          </ac:spMkLst>
        </pc:spChg>
        <pc:spChg chg="mod">
          <ac:chgData name="John Stephen" userId="56e4b450858bfbac" providerId="LiveId" clId="{5EE1DC98-A9A9-5399-A5C8-243DA6A2AD8F}" dt="2025-12-11T19:50:55" v="3072" actId="14100"/>
          <ac:spMkLst>
            <pc:docMk/>
            <pc:sldMk cId="1039106272" sldId="2147477520"/>
            <ac:spMk id="18" creationId="{54DDA864-D715-EC1D-8ED6-C49D238F3D14}"/>
          </ac:spMkLst>
        </pc:spChg>
        <pc:spChg chg="mod">
          <ac:chgData name="John Stephen" userId="56e4b450858bfbac" providerId="LiveId" clId="{5EE1DC98-A9A9-5399-A5C8-243DA6A2AD8F}" dt="2025-12-11T19:50:49.595" v="3071" actId="1037"/>
          <ac:spMkLst>
            <pc:docMk/>
            <pc:sldMk cId="1039106272" sldId="2147477520"/>
            <ac:spMk id="19" creationId="{B14532CB-1B31-EE86-96D3-574594ED427B}"/>
          </ac:spMkLst>
        </pc:spChg>
        <pc:spChg chg="mod">
          <ac:chgData name="John Stephen" userId="56e4b450858bfbac" providerId="LiveId" clId="{5EE1DC98-A9A9-5399-A5C8-243DA6A2AD8F}" dt="2025-12-11T19:50:49.595" v="3071" actId="1037"/>
          <ac:spMkLst>
            <pc:docMk/>
            <pc:sldMk cId="1039106272" sldId="2147477520"/>
            <ac:spMk id="25" creationId="{274C20D7-3B43-F264-E5E7-F1C15D3C83C3}"/>
          </ac:spMkLst>
        </pc:spChg>
        <pc:spChg chg="mod">
          <ac:chgData name="John Stephen" userId="56e4b450858bfbac" providerId="LiveId" clId="{5EE1DC98-A9A9-5399-A5C8-243DA6A2AD8F}" dt="2025-11-19T23:15:02.243" v="1579" actId="20577"/>
          <ac:spMkLst>
            <pc:docMk/>
            <pc:sldMk cId="1039106272" sldId="2147477520"/>
            <ac:spMk id="26" creationId="{35D0D175-F339-B8DA-27CB-BAE343D74EE0}"/>
          </ac:spMkLst>
        </pc:spChg>
        <pc:spChg chg="mod">
          <ac:chgData name="John Stephen" userId="56e4b450858bfbac" providerId="LiveId" clId="{5EE1DC98-A9A9-5399-A5C8-243DA6A2AD8F}" dt="2025-11-21T08:05:33.297" v="2154" actId="20577"/>
          <ac:spMkLst>
            <pc:docMk/>
            <pc:sldMk cId="1039106272" sldId="2147477520"/>
            <ac:spMk id="38" creationId="{C996B52C-0B46-CDF8-6856-B3CFD8DEF3CB}"/>
          </ac:spMkLst>
        </pc:spChg>
        <pc:grpChg chg="mod">
          <ac:chgData name="John Stephen" userId="56e4b450858bfbac" providerId="LiveId" clId="{5EE1DC98-A9A9-5399-A5C8-243DA6A2AD8F}" dt="2025-12-11T19:50:59.714" v="3073" actId="14100"/>
          <ac:grpSpMkLst>
            <pc:docMk/>
            <pc:sldMk cId="1039106272" sldId="2147477520"/>
            <ac:grpSpMk id="27" creationId="{5347EBD9-B066-69E9-9139-70CE209B7CBE}"/>
          </ac:grpSpMkLst>
        </pc:grpChg>
        <pc:picChg chg="mod">
          <ac:chgData name="John Stephen" userId="56e4b450858bfbac" providerId="LiveId" clId="{5EE1DC98-A9A9-5399-A5C8-243DA6A2AD8F}" dt="2025-12-11T19:50:49.595" v="3071" actId="1037"/>
          <ac:picMkLst>
            <pc:docMk/>
            <pc:sldMk cId="1039106272" sldId="2147477520"/>
            <ac:picMk id="3" creationId="{BCD6C97D-8349-D89A-2511-9556FDCB85A2}"/>
          </ac:picMkLst>
        </pc:picChg>
        <pc:picChg chg="mod">
          <ac:chgData name="John Stephen" userId="56e4b450858bfbac" providerId="LiveId" clId="{5EE1DC98-A9A9-5399-A5C8-243DA6A2AD8F}" dt="2025-12-11T19:50:49.595" v="3071" actId="1037"/>
          <ac:picMkLst>
            <pc:docMk/>
            <pc:sldMk cId="1039106272" sldId="2147477520"/>
            <ac:picMk id="5" creationId="{5159A5F5-91FB-58B4-AAA4-78613D5BF672}"/>
          </ac:picMkLst>
        </pc:picChg>
        <pc:picChg chg="mod">
          <ac:chgData name="John Stephen" userId="56e4b450858bfbac" providerId="LiveId" clId="{5EE1DC98-A9A9-5399-A5C8-243DA6A2AD8F}" dt="2025-12-11T19:50:49.595" v="3071" actId="1037"/>
          <ac:picMkLst>
            <pc:docMk/>
            <pc:sldMk cId="1039106272" sldId="2147477520"/>
            <ac:picMk id="8" creationId="{0F02E0DA-7ADD-A94C-35D3-A5596195403D}"/>
          </ac:picMkLst>
        </pc:picChg>
        <pc:picChg chg="mod">
          <ac:chgData name="John Stephen" userId="56e4b450858bfbac" providerId="LiveId" clId="{5EE1DC98-A9A9-5399-A5C8-243DA6A2AD8F}" dt="2025-12-11T19:50:49.595" v="3071" actId="1037"/>
          <ac:picMkLst>
            <pc:docMk/>
            <pc:sldMk cId="1039106272" sldId="2147477520"/>
            <ac:picMk id="22" creationId="{5A5D1C53-5469-8053-D4FA-6D5587B77C94}"/>
          </ac:picMkLst>
        </pc:picChg>
        <pc:picChg chg="mod">
          <ac:chgData name="John Stephen" userId="56e4b450858bfbac" providerId="LiveId" clId="{5EE1DC98-A9A9-5399-A5C8-243DA6A2AD8F}" dt="2025-12-11T19:50:49.595" v="3071" actId="1037"/>
          <ac:picMkLst>
            <pc:docMk/>
            <pc:sldMk cId="1039106272" sldId="2147477520"/>
            <ac:picMk id="24" creationId="{21E3FD45-F386-9B8E-0491-94F3FE1EDC57}"/>
          </ac:picMkLst>
        </pc:picChg>
      </pc:sldChg>
      <pc:sldChg chg="addSp delSp modSp add mod">
        <pc:chgData name="John Stephen" userId="56e4b450858bfbac" providerId="LiveId" clId="{5EE1DC98-A9A9-5399-A5C8-243DA6A2AD8F}" dt="2025-12-11T19:50:26.543" v="3039" actId="20577"/>
        <pc:sldMkLst>
          <pc:docMk/>
          <pc:sldMk cId="1339158356" sldId="2147477527"/>
        </pc:sldMkLst>
        <pc:spChg chg="mod">
          <ac:chgData name="John Stephen" userId="56e4b450858bfbac" providerId="LiveId" clId="{5EE1DC98-A9A9-5399-A5C8-243DA6A2AD8F}" dt="2025-12-11T19:50:26.543" v="3039" actId="20577"/>
          <ac:spMkLst>
            <pc:docMk/>
            <pc:sldMk cId="1339158356" sldId="2147477527"/>
            <ac:spMk id="38" creationId="{478FB013-3BEA-9794-6D0C-36E1353ADB22}"/>
          </ac:spMkLst>
        </pc:spChg>
        <pc:picChg chg="add del mod">
          <ac:chgData name="John Stephen" userId="56e4b450858bfbac" providerId="LiveId" clId="{5EE1DC98-A9A9-5399-A5C8-243DA6A2AD8F}" dt="2025-12-11T19:26:29.086" v="2986" actId="478"/>
          <ac:picMkLst>
            <pc:docMk/>
            <pc:sldMk cId="1339158356" sldId="2147477527"/>
            <ac:picMk id="5" creationId="{A7798408-1967-D0D6-9591-79505BC2F2B9}"/>
          </ac:picMkLst>
        </pc:picChg>
        <pc:picChg chg="del">
          <ac:chgData name="John Stephen" userId="56e4b450858bfbac" providerId="LiveId" clId="{5EE1DC98-A9A9-5399-A5C8-243DA6A2AD8F}" dt="2025-12-11T19:49:59.736" v="3027" actId="478"/>
          <ac:picMkLst>
            <pc:docMk/>
            <pc:sldMk cId="1339158356" sldId="2147477527"/>
            <ac:picMk id="8" creationId="{801F95E1-3BA4-C2E3-7482-D2DB1DDF58FC}"/>
          </ac:picMkLst>
        </pc:picChg>
      </pc:sldChg>
      <pc:sldChg chg="addSp delSp modSp del mod ord modShow modNotesTx">
        <pc:chgData name="John Stephen" userId="56e4b450858bfbac" providerId="LiveId" clId="{5EE1DC98-A9A9-5399-A5C8-243DA6A2AD8F}" dt="2025-12-11T19:25:59.794" v="2982" actId="2696"/>
        <pc:sldMkLst>
          <pc:docMk/>
          <pc:sldMk cId="1197491051" sldId="2147477531"/>
        </pc:sldMkLst>
        <pc:spChg chg="mod">
          <ac:chgData name="John Stephen" userId="56e4b450858bfbac" providerId="LiveId" clId="{5EE1DC98-A9A9-5399-A5C8-243DA6A2AD8F}" dt="2025-12-11T18:24:44.817" v="2402" actId="20577"/>
          <ac:spMkLst>
            <pc:docMk/>
            <pc:sldMk cId="1197491051" sldId="2147477531"/>
            <ac:spMk id="2" creationId="{334C4A46-299D-DF00-46B5-A58A39E7B53C}"/>
          </ac:spMkLst>
        </pc:spChg>
      </pc:sldChg>
      <pc:sldChg chg="modSp mod">
        <pc:chgData name="John Stephen" userId="56e4b450858bfbac" providerId="LiveId" clId="{5EE1DC98-A9A9-5399-A5C8-243DA6A2AD8F}" dt="2025-12-11T18:25:33.607" v="2429" actId="20577"/>
        <pc:sldMkLst>
          <pc:docMk/>
          <pc:sldMk cId="1320227536" sldId="2147477534"/>
        </pc:sldMkLst>
        <pc:graphicFrameChg chg="modGraphic">
          <ac:chgData name="John Stephen" userId="56e4b450858bfbac" providerId="LiveId" clId="{5EE1DC98-A9A9-5399-A5C8-243DA6A2AD8F}" dt="2025-12-11T18:25:33.607" v="2429" actId="20577"/>
          <ac:graphicFrameMkLst>
            <pc:docMk/>
            <pc:sldMk cId="1320227536" sldId="2147477534"/>
            <ac:graphicFrameMk id="7" creationId="{AB4A7371-5D17-A357-90E8-A7283B4C2A40}"/>
          </ac:graphicFrameMkLst>
        </pc:graphicFrameChg>
      </pc:sldChg>
      <pc:sldChg chg="add del mod modShow">
        <pc:chgData name="John Stephen" userId="56e4b450858bfbac" providerId="LiveId" clId="{5EE1DC98-A9A9-5399-A5C8-243DA6A2AD8F}" dt="2025-11-20T19:37:25.263" v="1810" actId="2696"/>
        <pc:sldMkLst>
          <pc:docMk/>
          <pc:sldMk cId="3714769863" sldId="2147477535"/>
        </pc:sldMkLst>
      </pc:sldChg>
      <pc:sldChg chg="addSp modSp add del mod modShow">
        <pc:chgData name="John Stephen" userId="56e4b450858bfbac" providerId="LiveId" clId="{5EE1DC98-A9A9-5399-A5C8-243DA6A2AD8F}" dt="2025-12-11T19:26:06.905" v="2985" actId="2696"/>
        <pc:sldMkLst>
          <pc:docMk/>
          <pc:sldMk cId="2872888224" sldId="2147477536"/>
        </pc:sldMkLst>
      </pc:sldChg>
      <pc:sldChg chg="modSp add del mod modShow">
        <pc:chgData name="John Stephen" userId="56e4b450858bfbac" providerId="LiveId" clId="{5EE1DC98-A9A9-5399-A5C8-243DA6A2AD8F}" dt="2025-12-11T18:18:27.378" v="2321" actId="2696"/>
        <pc:sldMkLst>
          <pc:docMk/>
          <pc:sldMk cId="123940366" sldId="2147477537"/>
        </pc:sldMkLst>
      </pc:sldChg>
      <pc:sldChg chg="addSp delSp modSp add mod ord modNotesTx">
        <pc:chgData name="John Stephen" userId="56e4b450858bfbac" providerId="LiveId" clId="{5EE1DC98-A9A9-5399-A5C8-243DA6A2AD8F}" dt="2025-12-11T20:45:57.826" v="3177" actId="20577"/>
        <pc:sldMkLst>
          <pc:docMk/>
          <pc:sldMk cId="759780379" sldId="2147477537"/>
        </pc:sldMkLst>
        <pc:spChg chg="mod">
          <ac:chgData name="John Stephen" userId="56e4b450858bfbac" providerId="LiveId" clId="{5EE1DC98-A9A9-5399-A5C8-243DA6A2AD8F}" dt="2025-12-11T19:21:06.349" v="2916" actId="20577"/>
          <ac:spMkLst>
            <pc:docMk/>
            <pc:sldMk cId="759780379" sldId="2147477537"/>
            <ac:spMk id="9" creationId="{EE62B049-844E-BD3D-A9BE-FAFBBD450200}"/>
          </ac:spMkLst>
        </pc:spChg>
        <pc:spChg chg="mod">
          <ac:chgData name="John Stephen" userId="56e4b450858bfbac" providerId="LiveId" clId="{5EE1DC98-A9A9-5399-A5C8-243DA6A2AD8F}" dt="2025-12-11T19:54:05.976" v="3145" actId="403"/>
          <ac:spMkLst>
            <pc:docMk/>
            <pc:sldMk cId="759780379" sldId="2147477537"/>
            <ac:spMk id="11" creationId="{46D26D05-48FC-050E-E3C8-EA38D77AD09F}"/>
          </ac:spMkLst>
        </pc:spChg>
        <pc:spChg chg="mod">
          <ac:chgData name="John Stephen" userId="56e4b450858bfbac" providerId="LiveId" clId="{5EE1DC98-A9A9-5399-A5C8-243DA6A2AD8F}" dt="2025-12-11T20:45:57.826" v="3177" actId="20577"/>
          <ac:spMkLst>
            <pc:docMk/>
            <pc:sldMk cId="759780379" sldId="2147477537"/>
            <ac:spMk id="20" creationId="{B69647C0-7ED8-9190-AAC2-ECD1DFBA0A84}"/>
          </ac:spMkLst>
        </pc:spChg>
        <pc:spChg chg="mod">
          <ac:chgData name="John Stephen" userId="56e4b450858bfbac" providerId="LiveId" clId="{5EE1DC98-A9A9-5399-A5C8-243DA6A2AD8F}" dt="2025-12-11T19:59:03.253" v="3155" actId="20577"/>
          <ac:spMkLst>
            <pc:docMk/>
            <pc:sldMk cId="759780379" sldId="2147477537"/>
            <ac:spMk id="21" creationId="{34C6477B-C0D4-DD62-0976-94525853FE2E}"/>
          </ac:spMkLst>
        </pc:spChg>
        <pc:spChg chg="mod">
          <ac:chgData name="John Stephen" userId="56e4b450858bfbac" providerId="LiveId" clId="{5EE1DC98-A9A9-5399-A5C8-243DA6A2AD8F}" dt="2025-12-11T20:45:36.226" v="3165" actId="20577"/>
          <ac:spMkLst>
            <pc:docMk/>
            <pc:sldMk cId="759780379" sldId="2147477537"/>
            <ac:spMk id="22" creationId="{70865C0A-E8AC-9F05-B612-AC0984849ADE}"/>
          </ac:spMkLst>
        </pc:spChg>
        <pc:spChg chg="mod">
          <ac:chgData name="John Stephen" userId="56e4b450858bfbac" providerId="LiveId" clId="{5EE1DC98-A9A9-5399-A5C8-243DA6A2AD8F}" dt="2025-12-11T19:51:32.720" v="3121" actId="20577"/>
          <ac:spMkLst>
            <pc:docMk/>
            <pc:sldMk cId="759780379" sldId="2147477537"/>
            <ac:spMk id="25" creationId="{DC26F27F-A29D-1828-94AE-2224C08B95F3}"/>
          </ac:spMkLst>
        </pc:spChg>
        <pc:spChg chg="mod">
          <ac:chgData name="John Stephen" userId="56e4b450858bfbac" providerId="LiveId" clId="{5EE1DC98-A9A9-5399-A5C8-243DA6A2AD8F}" dt="2025-12-11T20:45:44.977" v="3168" actId="20577"/>
          <ac:spMkLst>
            <pc:docMk/>
            <pc:sldMk cId="759780379" sldId="2147477537"/>
            <ac:spMk id="26" creationId="{1E89FA58-61E5-7315-02BE-F29F09121D60}"/>
          </ac:spMkLst>
        </pc:spChg>
        <pc:spChg chg="mod">
          <ac:chgData name="John Stephen" userId="56e4b450858bfbac" providerId="LiveId" clId="{5EE1DC98-A9A9-5399-A5C8-243DA6A2AD8F}" dt="2025-12-11T19:51:28.881" v="3117" actId="20577"/>
          <ac:spMkLst>
            <pc:docMk/>
            <pc:sldMk cId="759780379" sldId="2147477537"/>
            <ac:spMk id="28" creationId="{9B41E13A-A0D4-971E-E04A-4CA219D2216D}"/>
          </ac:spMkLst>
        </pc:spChg>
        <pc:spChg chg="mod">
          <ac:chgData name="John Stephen" userId="56e4b450858bfbac" providerId="LiveId" clId="{5EE1DC98-A9A9-5399-A5C8-243DA6A2AD8F}" dt="2025-12-11T18:33:35.018" v="2583" actId="20577"/>
          <ac:spMkLst>
            <pc:docMk/>
            <pc:sldMk cId="759780379" sldId="2147477537"/>
            <ac:spMk id="33" creationId="{1EACDFC8-42E0-5044-BEE0-6EFCFA52AA23}"/>
          </ac:spMkLst>
        </pc:spChg>
        <pc:spChg chg="mod">
          <ac:chgData name="John Stephen" userId="56e4b450858bfbac" providerId="LiveId" clId="{5EE1DC98-A9A9-5399-A5C8-243DA6A2AD8F}" dt="2025-12-11T19:25:28.459" v="2981" actId="113"/>
          <ac:spMkLst>
            <pc:docMk/>
            <pc:sldMk cId="759780379" sldId="2147477537"/>
            <ac:spMk id="34" creationId="{E8FB01E8-E341-4C22-77F8-B41B6ED734FB}"/>
          </ac:spMkLst>
        </pc:spChg>
        <pc:spChg chg="mod">
          <ac:chgData name="John Stephen" userId="56e4b450858bfbac" providerId="LiveId" clId="{5EE1DC98-A9A9-5399-A5C8-243DA6A2AD8F}" dt="2025-12-11T18:41:09.608" v="2589" actId="20577"/>
          <ac:spMkLst>
            <pc:docMk/>
            <pc:sldMk cId="759780379" sldId="2147477537"/>
            <ac:spMk id="39" creationId="{36C4A2E1-9A79-B5BE-589F-9B7CA8148527}"/>
          </ac:spMkLst>
        </pc:spChg>
        <pc:spChg chg="mod">
          <ac:chgData name="John Stephen" userId="56e4b450858bfbac" providerId="LiveId" clId="{5EE1DC98-A9A9-5399-A5C8-243DA6A2AD8F}" dt="2025-12-11T19:22:57.110" v="2973" actId="20577"/>
          <ac:spMkLst>
            <pc:docMk/>
            <pc:sldMk cId="759780379" sldId="2147477537"/>
            <ac:spMk id="42" creationId="{7C9DDCE3-F527-5CFA-FD42-D66D31EAE8C9}"/>
          </ac:spMkLst>
        </pc:spChg>
        <pc:spChg chg="mod">
          <ac:chgData name="John Stephen" userId="56e4b450858bfbac" providerId="LiveId" clId="{5EE1DC98-A9A9-5399-A5C8-243DA6A2AD8F}" dt="2025-12-11T19:38:49.047" v="3024" actId="113"/>
          <ac:spMkLst>
            <pc:docMk/>
            <pc:sldMk cId="759780379" sldId="2147477537"/>
            <ac:spMk id="43" creationId="{734AE92B-7F14-677C-7BB7-59FFC926E702}"/>
          </ac:spMkLst>
        </pc:spChg>
        <pc:picChg chg="add mod">
          <ac:chgData name="John Stephen" userId="56e4b450858bfbac" providerId="LiveId" clId="{5EE1DC98-A9A9-5399-A5C8-243DA6A2AD8F}" dt="2025-12-11T18:31:18.294" v="2484" actId="1076"/>
          <ac:picMkLst>
            <pc:docMk/>
            <pc:sldMk cId="759780379" sldId="2147477537"/>
            <ac:picMk id="8" creationId="{5ABBBDD9-D3D6-44E4-DB4D-B3AC5FC32259}"/>
          </ac:picMkLst>
        </pc:picChg>
        <pc:picChg chg="add mod">
          <ac:chgData name="John Stephen" userId="56e4b450858bfbac" providerId="LiveId" clId="{5EE1DC98-A9A9-5399-A5C8-243DA6A2AD8F}" dt="2025-12-11T18:31:41.834" v="2485" actId="931"/>
          <ac:picMkLst>
            <pc:docMk/>
            <pc:sldMk cId="759780379" sldId="2147477537"/>
            <ac:picMk id="12" creationId="{78C05C27-7160-3262-A9D6-80D89CF95442}"/>
          </ac:picMkLst>
        </pc:picChg>
        <pc:picChg chg="add mod">
          <ac:chgData name="John Stephen" userId="56e4b450858bfbac" providerId="LiveId" clId="{5EE1DC98-A9A9-5399-A5C8-243DA6A2AD8F}" dt="2025-12-11T18:32:12.410" v="2495" actId="1076"/>
          <ac:picMkLst>
            <pc:docMk/>
            <pc:sldMk cId="759780379" sldId="2147477537"/>
            <ac:picMk id="14" creationId="{8903B085-77E1-6651-B67A-153853802BCE}"/>
          </ac:picMkLst>
        </pc:picChg>
        <pc:picChg chg="del">
          <ac:chgData name="John Stephen" userId="56e4b450858bfbac" providerId="LiveId" clId="{5EE1DC98-A9A9-5399-A5C8-243DA6A2AD8F}" dt="2025-12-11T19:22:45.622" v="2962" actId="478"/>
          <ac:picMkLst>
            <pc:docMk/>
            <pc:sldMk cId="759780379" sldId="2147477537"/>
            <ac:picMk id="19" creationId="{10CE6A33-2234-9F75-006C-1D207DB1F33E}"/>
          </ac:picMkLst>
        </pc:picChg>
        <pc:picChg chg="add mod">
          <ac:chgData name="John Stephen" userId="56e4b450858bfbac" providerId="LiveId" clId="{5EE1DC98-A9A9-5399-A5C8-243DA6A2AD8F}" dt="2025-12-11T18:45:17.914" v="2598" actId="1076"/>
          <ac:picMkLst>
            <pc:docMk/>
            <pc:sldMk cId="759780379" sldId="2147477537"/>
            <ac:picMk id="27" creationId="{7C9BB79C-0EA9-95D8-A5A0-65F1564C8BFB}"/>
          </ac:picMkLst>
        </pc:picChg>
        <pc:picChg chg="mod">
          <ac:chgData name="John Stephen" userId="56e4b450858bfbac" providerId="LiveId" clId="{5EE1DC98-A9A9-5399-A5C8-243DA6A2AD8F}" dt="2025-12-11T19:25:08.806" v="2976" actId="14826"/>
          <ac:picMkLst>
            <pc:docMk/>
            <pc:sldMk cId="759780379" sldId="2147477537"/>
            <ac:picMk id="35" creationId="{0EC0E1E2-665A-A7E6-8D22-5CA682C606FB}"/>
          </ac:picMkLst>
        </pc:picChg>
        <pc:picChg chg="del">
          <ac:chgData name="John Stephen" userId="56e4b450858bfbac" providerId="LiveId" clId="{5EE1DC98-A9A9-5399-A5C8-243DA6A2AD8F}" dt="2025-12-11T18:31:14.982" v="2483" actId="478"/>
          <ac:picMkLst>
            <pc:docMk/>
            <pc:sldMk cId="759780379" sldId="2147477537"/>
            <ac:picMk id="36" creationId="{791F4F11-9079-4BBD-0368-3B3DE0FC4F72}"/>
          </ac:picMkLst>
        </pc:picChg>
        <pc:picChg chg="del">
          <ac:chgData name="John Stephen" userId="56e4b450858bfbac" providerId="LiveId" clId="{5EE1DC98-A9A9-5399-A5C8-243DA6A2AD8F}" dt="2025-12-11T18:32:02.507" v="2492" actId="478"/>
          <ac:picMkLst>
            <pc:docMk/>
            <pc:sldMk cId="759780379" sldId="2147477537"/>
            <ac:picMk id="37" creationId="{91C3D53A-22F8-3847-92E9-BCA941843AD2}"/>
          </ac:picMkLst>
        </pc:picChg>
        <pc:picChg chg="mod">
          <ac:chgData name="John Stephen" userId="56e4b450858bfbac" providerId="LiveId" clId="{5EE1DC98-A9A9-5399-A5C8-243DA6A2AD8F}" dt="2025-12-11T19:24:36.437" v="2975" actId="14826"/>
          <ac:picMkLst>
            <pc:docMk/>
            <pc:sldMk cId="759780379" sldId="2147477537"/>
            <ac:picMk id="41" creationId="{F1F9C2A4-FA3C-4062-3145-1357721997D2}"/>
          </ac:picMkLst>
        </pc:picChg>
      </pc:sldChg>
      <pc:sldChg chg="addSp delSp modSp add del mod">
        <pc:chgData name="John Stephen" userId="56e4b450858bfbac" providerId="LiveId" clId="{5EE1DC98-A9A9-5399-A5C8-243DA6A2AD8F}" dt="2025-11-20T20:12:45.949" v="1983" actId="2696"/>
        <pc:sldMkLst>
          <pc:docMk/>
          <pc:sldMk cId="829357224" sldId="2147477538"/>
        </pc:sldMkLst>
      </pc:sldChg>
      <pc:sldChg chg="add del mod modShow">
        <pc:chgData name="John Stephen" userId="56e4b450858bfbac" providerId="LiveId" clId="{5EE1DC98-A9A9-5399-A5C8-243DA6A2AD8F}" dt="2025-11-19T22:56:22.903" v="841" actId="2696"/>
        <pc:sldMkLst>
          <pc:docMk/>
          <pc:sldMk cId="3059731380" sldId="2147477538"/>
        </pc:sldMkLst>
      </pc:sldChg>
      <pc:sldChg chg="add del mod modShow">
        <pc:chgData name="John Stephen" userId="56e4b450858bfbac" providerId="LiveId" clId="{5EE1DC98-A9A9-5399-A5C8-243DA6A2AD8F}" dt="2025-11-19T21:22:18.047" v="343" actId="2696"/>
        <pc:sldMkLst>
          <pc:docMk/>
          <pc:sldMk cId="3811838502" sldId="2147477539"/>
        </pc:sldMkLst>
      </pc:sldChg>
      <pc:sldChg chg="add del">
        <pc:chgData name="John Stephen" userId="56e4b450858bfbac" providerId="LiveId" clId="{5EE1DC98-A9A9-5399-A5C8-243DA6A2AD8F}" dt="2025-11-19T23:15:35.573" v="1581" actId="2696"/>
        <pc:sldMkLst>
          <pc:docMk/>
          <pc:sldMk cId="3367165405" sldId="2147477540"/>
        </pc:sldMkLst>
      </pc:sldChg>
      <pc:sldChg chg="modSp del mod">
        <pc:chgData name="John Stephen" userId="56e4b450858bfbac" providerId="LiveId" clId="{5EE1DC98-A9A9-5399-A5C8-243DA6A2AD8F}" dt="2025-11-19T23:15:31.254" v="1580" actId="2696"/>
        <pc:sldMkLst>
          <pc:docMk/>
          <pc:sldMk cId="1043248277" sldId="2147477541"/>
        </pc:sldMkLst>
      </pc:sldChg>
      <pc:sldChg chg="del ord">
        <pc:chgData name="John Stephen" userId="56e4b450858bfbac" providerId="LiveId" clId="{5EE1DC98-A9A9-5399-A5C8-243DA6A2AD8F}" dt="2025-11-19T22:57:26.449" v="845" actId="2696"/>
        <pc:sldMkLst>
          <pc:docMk/>
          <pc:sldMk cId="0" sldId="2147477542"/>
        </pc:sldMkLst>
      </pc:sldChg>
      <pc:sldMasterChg chg="modSldLayout">
        <pc:chgData name="John Stephen" userId="56e4b450858bfbac" providerId="LiveId" clId="{5EE1DC98-A9A9-5399-A5C8-243DA6A2AD8F}" dt="2025-11-19T22:16:49.746" v="790" actId="478"/>
        <pc:sldMasterMkLst>
          <pc:docMk/>
          <pc:sldMasterMk cId="420766370" sldId="2147483648"/>
        </pc:sldMasterMkLst>
        <pc:sldLayoutChg chg="delSp mod">
          <pc:chgData name="John Stephen" userId="56e4b450858bfbac" providerId="LiveId" clId="{5EE1DC98-A9A9-5399-A5C8-243DA6A2AD8F}" dt="2025-11-19T22:16:49.746" v="790" actId="478"/>
          <pc:sldLayoutMkLst>
            <pc:docMk/>
            <pc:sldMasterMk cId="420766370" sldId="2147483648"/>
            <pc:sldLayoutMk cId="910591538" sldId="2147483660"/>
          </pc:sldLayoutMkLst>
        </pc:sldLayoutChg>
      </pc:sldMasterChg>
    </pc:docChg>
  </pc:docChgLst>
  <pc:docChgLst>
    <pc:chgData name="John Stephen" userId="49e995a1dd4dd8d8" providerId="LiveId" clId="{A75B6098-FBAC-5A38-A1B1-A1A77E00066C}"/>
    <pc:docChg chg="undo custSel addSld modSld">
      <pc:chgData name="John Stephen" userId="49e995a1dd4dd8d8" providerId="LiveId" clId="{A75B6098-FBAC-5A38-A1B1-A1A77E00066C}" dt="2025-11-19T22:41:56.791" v="1154"/>
      <pc:docMkLst>
        <pc:docMk/>
      </pc:docMkLst>
      <pc:sldChg chg="modSp mod">
        <pc:chgData name="John Stephen" userId="49e995a1dd4dd8d8" providerId="LiveId" clId="{A75B6098-FBAC-5A38-A1B1-A1A77E00066C}" dt="2025-11-15T12:00:58.464" v="1134" actId="20577"/>
        <pc:sldMkLst>
          <pc:docMk/>
          <pc:sldMk cId="1039106272" sldId="2147477520"/>
        </pc:sldMkLst>
        <pc:spChg chg="mod">
          <ac:chgData name="John Stephen" userId="49e995a1dd4dd8d8" providerId="LiveId" clId="{A75B6098-FBAC-5A38-A1B1-A1A77E00066C}" dt="2025-11-15T12:00:58.464" v="1134" actId="20577"/>
          <ac:spMkLst>
            <pc:docMk/>
            <pc:sldMk cId="1039106272" sldId="2147477520"/>
            <ac:spMk id="38" creationId="{C996B52C-0B46-CDF8-6856-B3CFD8DEF3CB}"/>
          </ac:spMkLst>
        </pc:spChg>
      </pc:sldChg>
      <pc:sldChg chg="addSp delSp modSp mod">
        <pc:chgData name="John Stephen" userId="49e995a1dd4dd8d8" providerId="LiveId" clId="{A75B6098-FBAC-5A38-A1B1-A1A77E00066C}" dt="2025-11-15T11:58:54.003" v="989" actId="14100"/>
        <pc:sldMkLst>
          <pc:docMk/>
          <pc:sldMk cId="1197491051" sldId="2147477531"/>
        </pc:sldMkLst>
      </pc:sldChg>
      <pc:sldChg chg="delSp modSp new mod">
        <pc:chgData name="John Stephen" userId="49e995a1dd4dd8d8" providerId="LiveId" clId="{A75B6098-FBAC-5A38-A1B1-A1A77E00066C}" dt="2025-11-19T22:40:22.278" v="1153" actId="20577"/>
        <pc:sldMkLst>
          <pc:docMk/>
          <pc:sldMk cId="1043248277" sldId="2147477541"/>
        </pc:sldMkLst>
      </pc:sldChg>
      <pc:sldChg chg="add">
        <pc:chgData name="John Stephen" userId="49e995a1dd4dd8d8" providerId="LiveId" clId="{A75B6098-FBAC-5A38-A1B1-A1A77E00066C}" dt="2025-11-19T22:41:56.791" v="1154"/>
        <pc:sldMkLst>
          <pc:docMk/>
          <pc:sldMk cId="0" sldId="21474775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FE6F2-C9DE-4BB8-BEC8-518C64A1976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54DC0A-3E89-4A55-A07D-AFB5B58143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465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4DC0A-3E89-4A55-A07D-AFB5B581431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0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EA2D7-947E-1D4F-AE8C-2B330ECA2BC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558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D7EF-3396-3286-1407-6EC0711D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035DC-27C3-D895-2511-DD71A5E53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DA4F2-0E25-D778-FD5C-0B3CBEA6D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Emissions cuts are in line with limiting warming to </a:t>
            </a:r>
            <a:r>
              <a:rPr lang="en-GB" b="1" dirty="0"/>
              <a:t>1.5°C</a:t>
            </a:r>
            <a:r>
              <a:rPr lang="en-GB" dirty="0"/>
              <a:t> (i.e. very steep, front-loaded reductions – usually ~90%+ by 2050 across Scopes 1–3).</a:t>
            </a:r>
          </a:p>
          <a:p>
            <a:endParaRPr lang="en-GB" dirty="0"/>
          </a:p>
          <a:p>
            <a:r>
              <a:rPr lang="en-GB" b="1" dirty="0"/>
              <a:t>Offsets/credits are only for the small residual</a:t>
            </a:r>
            <a:r>
              <a:rPr lang="en-GB" dirty="0"/>
              <a:t> (typically &lt;5–10%) </a:t>
            </a:r>
            <a:r>
              <a:rPr lang="en-GB" i="1" dirty="0"/>
              <a:t>after</a:t>
            </a:r>
            <a:r>
              <a:rPr lang="en-GB" dirty="0"/>
              <a:t> deep real reductions</a:t>
            </a:r>
          </a:p>
          <a:p>
            <a:endParaRPr lang="en-GB" dirty="0"/>
          </a:p>
          <a:p>
            <a:r>
              <a:rPr lang="en-GB" dirty="0"/>
              <a:t>Total carbon-free electricity up 61% from 2023 to 18% 2017. </a:t>
            </a:r>
          </a:p>
          <a:p>
            <a:endParaRPr lang="en-GB" dirty="0"/>
          </a:p>
          <a:p>
            <a:r>
              <a:rPr lang="en-GB" dirty="0"/>
              <a:t>For our internal controlled emissions (net scope 1 and market-based scope 2), there was a 33% decrease in GHG emissions from 637k metric tons of CO2-equivalent (MTCO2 e) in 2018 to 427k MTCO2 e in 2024. This decrease was driven by increased carbon-free electricity procurement, even while total business activity increased substantially. In 2024, our internal controlled emissions were 47% of our total inventory.</a:t>
            </a:r>
          </a:p>
          <a:p>
            <a:endParaRPr lang="en-GB" dirty="0"/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means they prioritise the most credible forms of clean energy — long-term renewable PPAs and green tariffs — and only rely on certificates like RECs or nuclear guarantees as a last resort, to avoid greenwash and strengthen the real decarbonisation impact.” </a:t>
            </a: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a low-credibility renewable certificate; no link to physical power.</a:t>
            </a: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PPA/VPPA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long-term contract with a renewable project; top-tier decarbonisation method.</a:t>
            </a: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EFECs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carbon-free nuclear certificates; credible but not renewable.</a:t>
            </a:r>
          </a:p>
          <a:p>
            <a:r>
              <a:rPr lang="en-GB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Hyperscalers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AWS, Azure, Google, Meta, NVIDIA; the biggest cloud/AI players.</a:t>
            </a: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Colocation capacity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MW of IT load customers can deploy in a data centre.</a:t>
            </a: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I strip it back to the infra-material ESG drivers for CyrusOne, it’s power, carbon, water, resilience and info-sec. Most of the rest is hygiene.”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506B9-176F-5E7B-8FAA-AD6A6E628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EA2D7-947E-1D4F-AE8C-2B330ECA2BC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815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96352-8CC2-7F1D-E492-3F5D8395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E6CB9-2D4C-62EC-B7B2-CD717EFF8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DAEDB-80BF-2801-B37F-DA422DA1F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E0C0E-B572-2BF3-78E7-CB6359D5E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EA2D7-947E-1D4F-AE8C-2B330ECA2BC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985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A6C16-6D8D-60C7-163F-A63A82280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E3410-B893-3699-65DD-FF3E09E73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7B552-C946-074D-E8DE-923C89849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are some key figures for other GIP Data centres to compare?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6F6B7-6352-CEB5-4E47-C519981BB4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5FF2AE-FF4A-42B1-9BD3-B51E6D941A76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0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776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E7828-836F-2C67-FE15-6AAFB9C7F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CCCDE-8466-6F97-0758-22A2AA88F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BC70B-E3F5-186A-0001-A73E804E8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B110B-F8D6-F141-02FD-6F7E42722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EA2D7-947E-1D4F-AE8C-2B330ECA2BC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710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3BF2A-0662-2B4B-D2B7-5C842B3D2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AD931-A064-C6E0-ACDA-48F766B6F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1A34A-5B89-941F-F766-9FAC36938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80A5A-05A6-5A77-D96F-4F27556FE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5FF2AE-FF4A-42B1-9BD3-B51E6D941A76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0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4664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6D81D-3EB6-25B8-2989-92D54F5E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58FCB-D7C8-497F-4BB7-494E91755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4737A-532B-243F-903F-AF77B40E7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6DE27-3E46-4DB1-0591-C819286F3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EA2D7-947E-1D4F-AE8C-2B330ECA2BC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524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0F543-8D4D-3B3C-AF72-FC02C2C4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18B3D-7B22-5139-F3B9-53244DEA6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42C9D-CE3C-F981-5EE3-B92EB9D72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3B50A-7B9C-D5EE-FEF5-072BEF978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EA2D7-947E-1D4F-AE8C-2B330ECA2BC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470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EA2D7-947E-1D4F-AE8C-2B330ECA2BC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916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7059B-EFBB-4A39-C8A8-E6F0E2E88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DB5DC-C805-09AC-2F52-72FC6F315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A661E-F79E-FEB8-410E-B2627F412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/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A5281-1264-D4A1-360A-22BF6FF99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5FF2AE-FF4A-42B1-9BD3-B51E6D941A76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0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955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04C1A-6EC4-E337-8070-C614F16C0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1D481-D926-613E-46C6-2CAA6EDB5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93330-C2DA-2858-B3F4-6E9BB56C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C1D01-2FE0-6021-9661-DACEDB8F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62476-A24A-5A3D-4BC9-A56E617F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1775E9E-A6CE-CE21-7B88-45CA4E62BE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90500"/>
            <a:ext cx="1318436" cy="4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852A-2615-8FFE-BF5E-E7C64001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1FC18-974F-5728-20E0-FEBD8C310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7EFBF-2E6D-9833-9C4D-33FD4FDB3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041EE-0F45-192D-E702-D7C96896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B6F2E-C209-B42B-C93C-3F618E41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92AE579-50D0-616C-0EEE-ECF5F9134F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46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575B-E1FF-6E48-F04C-936B8F66C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F02F-1429-99CA-D4F6-DCB136EA6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E2404-2B4A-3F31-8E95-A80E40F0C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A814-7C2C-F637-632C-BB17F6D5F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9D988-D794-02B8-F487-DE0112BD0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19DC780-CBA1-CD8D-025C-4D5CFB8556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4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1310-EFEE-6428-D288-286ABF7CD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5B967-BB30-944A-47B6-A5CA43C86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979CE-9C39-1A15-DB46-FB22FBF07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73025-43E1-F7AE-E349-35A16567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90F9F-DF96-1B7C-FF86-3D0C271F9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F3C7D-75F9-66A3-B0D6-8C767DBD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D086F4C-F10A-1390-00ED-A1B8F1B4CF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0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A84A-3D71-F3F5-88DA-5126C39EA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CF43A-5BC5-613A-47A5-92369A0C5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9486E-8ED7-356F-E093-A15CF1337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3D562C-C21A-B3CB-7A72-D7AC00328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D8FE9-7292-E989-FDDC-21E953DE19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E7626-C717-4C75-D596-7539C40CA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57540-0DCB-77ED-D424-E568A4753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83F2C-EBBB-4838-92A6-C86DCC1A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DBF4271-9A49-329E-DB11-F4D356403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5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FEE9-0611-7885-B3FD-09B76FCD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A6E44-EDE1-4A07-EC88-B4ECA1DB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4A0FA-4AC4-F3A3-FE98-8CC27E5EC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6588E-0084-5CCF-5044-5D896E8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F94236E-F3D6-E4CC-04C6-2B0377B022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5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394EB-0BB5-EC33-1C38-11E23A92F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D7AB1-F671-D76B-50D3-D802D4FEA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52EE4-705E-5989-324A-CFB5DC1B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AAE7772-01DF-8BBF-82C5-D102B2E90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2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09B7C-5669-7B8C-35DC-9117C910D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E67D4-4B31-6517-CA4C-72D7565D6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61C44-B131-12C1-DE3F-9CE1759A8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6A8B4-5B17-B669-EEF5-643E8E7F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FB3A9-E211-68F1-C4AA-58656C1D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005EE-9B4F-BD8C-061D-48CC9890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BAFAD93-D555-43E4-189E-46573805DC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22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A1E2-9FC4-54C0-7955-2411913A5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BF31D-18CF-D8ED-463E-000EC19A5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2B93E-3B70-5A46-D695-DBC3FD4C8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8DC60-70A8-A658-E710-0210CE267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219D4-BC5C-C643-44F4-26470720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E3C1A-C150-501E-9B42-987B86C2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644434E-8F0D-92A3-CB57-EECD68CDD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68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DDD6-67E7-086E-3988-C420D8C8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0E8F8-861B-6BD4-9ADE-B00230344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ED205-BEA5-2400-5492-B9FFF1B0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4BB62-C25A-0B48-0FCD-A09285FE4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4F99B-F6F1-627D-95D1-6D6C1D2B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22FE08F-5D3C-103F-2F8E-8CDD855C26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03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4BE67-F133-5C1E-D127-1A4B7BF08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A70DA7-8694-78C6-BE55-AE689D4F9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FFCCF-9174-C363-D22F-749ED2FED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95452-C591-946C-9606-06A7DBF1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0C1E2-F1BF-D572-ADDB-AE14E397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771BC5B-60BC-BB08-537B-76B4CE4CE3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5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w/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 not remove" hidden="1">
            <a:extLst>
              <a:ext uri="{FF2B5EF4-FFF2-40B4-BE49-F238E27FC236}">
                <a16:creationId xmlns:a16="http://schemas.microsoft.com/office/drawing/2014/main" id="{26F04A2D-1687-EEDE-0BDE-4E0B4D9C932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" y="1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bg2">
                    <a:lumMod val="9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25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 hasCustomPrompt="1"/>
          </p:nvPr>
        </p:nvSpPr>
        <p:spPr>
          <a:xfrm>
            <a:off x="814923" y="1556793"/>
            <a:ext cx="10562165" cy="460905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Level 1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</a:t>
            </a:r>
          </a:p>
          <a:p>
            <a:pPr lvl="4"/>
            <a:r>
              <a:rPr lang="en-GB" noProof="0"/>
              <a:t>Level 5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 hasCustomPrompt="1"/>
          </p:nvPr>
        </p:nvSpPr>
        <p:spPr>
          <a:xfrm>
            <a:off x="814923" y="1051968"/>
            <a:ext cx="10562165" cy="50482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33" b="1" i="0" cap="all" baseline="0">
                <a:solidFill>
                  <a:schemeClr val="accent2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733" i="0" cap="all" baseline="0"/>
            </a:lvl2pPr>
          </a:lstStyle>
          <a:p>
            <a:pPr lvl="0"/>
            <a:r>
              <a:rPr lang="en-US" noProof="0"/>
              <a:t>Title 1</a:t>
            </a:r>
            <a:endParaRPr lang="en-GB" noProof="0"/>
          </a:p>
          <a:p>
            <a:pPr lvl="1"/>
            <a:r>
              <a:rPr lang="en-US" noProof="0"/>
              <a:t>Title 2</a:t>
            </a:r>
            <a:endParaRPr lang="en-GB" noProof="0"/>
          </a:p>
        </p:txBody>
      </p:sp>
      <p:sp>
        <p:nvSpPr>
          <p:cNvPr id="12" name="Titre 1"/>
          <p:cNvSpPr>
            <a:spLocks noGrp="1"/>
          </p:cNvSpPr>
          <p:nvPr>
            <p:ph type="title" hasCustomPrompt="1"/>
          </p:nvPr>
        </p:nvSpPr>
        <p:spPr>
          <a:xfrm>
            <a:off x="814921" y="334800"/>
            <a:ext cx="10562163" cy="213880"/>
          </a:xfrm>
        </p:spPr>
        <p:txBody>
          <a:bodyPr>
            <a:noAutofit/>
          </a:bodyPr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1 column </a:t>
            </a:r>
            <a:r>
              <a:rPr lang="en-GB" noProof="0"/>
              <a:t>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814755" y="549279"/>
            <a:ext cx="10562492" cy="287437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SUBTITLE</a:t>
            </a:r>
            <a:endParaRPr lang="en-US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A9B8BE3-0B3E-997D-FC19-537825F808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030" y="6370348"/>
            <a:ext cx="1160988" cy="3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9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3269E5B-EF6A-828E-9C92-844E457A6A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61271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47" imgH="348" progId="TCLayout.ActiveDocument.1">
                  <p:embed/>
                </p:oleObj>
              </mc:Choice>
              <mc:Fallback>
                <p:oleObj name="think-cell Slide" r:id="rId15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269E5B-EF6A-828E-9C92-844E457A6A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48878-D8C1-68D9-1F56-388725FD2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2914-E5F8-EAA9-1238-D1AAD531C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62FAB-264C-8F0B-82E0-2D47118B3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D39E0-AC7B-4DB2-8510-20D3D8B138D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3DABC-E4F1-6AEF-CFE7-5789D923A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E0715-1C13-E778-425C-20D12AF51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623C5-58D7-475D-A835-012D08A1BA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6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hyperlink" Target="mailto:contact@ardian.co" TargetMode="External"/><Relationship Id="rId5" Type="http://schemas.openxmlformats.org/officeDocument/2006/relationships/image" Target="../media/image1.emf"/><Relationship Id="rId10" Type="http://schemas.openxmlformats.org/officeDocument/2006/relationships/image" Target="../media/image40.svg"/><Relationship Id="rId4" Type="http://schemas.openxmlformats.org/officeDocument/2006/relationships/oleObject" Target="../embeddings/oleObject3.bin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9E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80A53A0-A067-E378-5748-5B38522519D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47159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0A53A0-A067-E378-5748-5B38522519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DB1EA021-C883-5EB7-37B1-A18B14156D3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463ED-E7AF-06AB-05D6-71FF78EFB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27" y="1549147"/>
            <a:ext cx="9144000" cy="3616325"/>
          </a:xfrm>
        </p:spPr>
        <p:txBody>
          <a:bodyPr vert="horz" anchor="t">
            <a:normAutofit/>
          </a:bodyPr>
          <a:lstStyle/>
          <a:p>
            <a:pPr algn="l"/>
            <a:br>
              <a:rPr lang="en-GB" sz="1600" dirty="0">
                <a:solidFill>
                  <a:schemeClr val="bg1"/>
                </a:solidFill>
                <a:latin typeface="Helvetica" pitchFamily="2" charset="0"/>
              </a:rPr>
            </a:br>
            <a:br>
              <a:rPr lang="en-GB" sz="1600" dirty="0">
                <a:solidFill>
                  <a:schemeClr val="bg1"/>
                </a:solidFill>
                <a:latin typeface="Helvetica" pitchFamily="2" charset="0"/>
              </a:rPr>
            </a:br>
            <a:br>
              <a:rPr lang="en-GB" sz="2400" dirty="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2400" b="1" dirty="0">
                <a:solidFill>
                  <a:schemeClr val="bg1"/>
                </a:solidFill>
                <a:latin typeface="Helvetica" pitchFamily="2" charset="0"/>
              </a:rPr>
              <a:t>ESG Associate </a:t>
            </a:r>
            <a:r>
              <a:rPr lang="en-GB" sz="2400" dirty="0">
                <a:solidFill>
                  <a:schemeClr val="bg1"/>
                </a:solidFill>
                <a:latin typeface="Helvetica" pitchFamily="2" charset="0"/>
              </a:rPr>
              <a:t>- </a:t>
            </a:r>
            <a:r>
              <a:rPr lang="en-GB" sz="2400" b="1" dirty="0">
                <a:solidFill>
                  <a:schemeClr val="bg1"/>
                </a:solidFill>
                <a:latin typeface="Helvetica" pitchFamily="2" charset="0"/>
              </a:rPr>
              <a:t>Case Study</a:t>
            </a:r>
            <a:br>
              <a:rPr lang="en-GB" sz="2400" dirty="0">
                <a:solidFill>
                  <a:schemeClr val="bg1"/>
                </a:solidFill>
                <a:latin typeface="Helvetica" pitchFamily="2" charset="0"/>
              </a:rPr>
            </a:br>
            <a:br>
              <a:rPr lang="en-GB" sz="1600" dirty="0">
                <a:solidFill>
                  <a:schemeClr val="bg1"/>
                </a:solidFill>
                <a:latin typeface="Helvetica" pitchFamily="2" charset="0"/>
              </a:rPr>
            </a:br>
            <a:br>
              <a:rPr lang="en-GB" sz="1600" dirty="0">
                <a:solidFill>
                  <a:schemeClr val="bg1"/>
                </a:solidFill>
                <a:latin typeface="Helvetica" pitchFamily="2" charset="0"/>
              </a:rPr>
            </a:br>
            <a:br>
              <a:rPr lang="en-GB" sz="1600" dirty="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1600" dirty="0">
                <a:solidFill>
                  <a:schemeClr val="bg1"/>
                </a:solidFill>
                <a:latin typeface="Helvetica" pitchFamily="2" charset="0"/>
              </a:rPr>
              <a:t>John Stephen</a:t>
            </a:r>
            <a:br>
              <a:rPr lang="en-GB" sz="1600" dirty="0">
                <a:solidFill>
                  <a:schemeClr val="bg1"/>
                </a:solidFill>
                <a:latin typeface="Helvetica" pitchFamily="2" charset="0"/>
              </a:rPr>
            </a:br>
            <a:br>
              <a:rPr lang="en-GB" sz="1600" dirty="0">
                <a:solidFill>
                  <a:schemeClr val="bg1"/>
                </a:solidFill>
                <a:latin typeface="Helvetica" pitchFamily="2" charset="0"/>
              </a:rPr>
            </a:br>
            <a:br>
              <a:rPr lang="en-GB" sz="1600" dirty="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1600" dirty="0">
                <a:solidFill>
                  <a:schemeClr val="bg1"/>
                </a:solidFill>
                <a:latin typeface="Helvetica" pitchFamily="2" charset="0"/>
              </a:rPr>
              <a:t>London - 12th December 2025</a:t>
            </a:r>
            <a:br>
              <a:rPr lang="en-GB" sz="1600" dirty="0">
                <a:solidFill>
                  <a:schemeClr val="bg1"/>
                </a:solidFill>
                <a:latin typeface="Helvetica" pitchFamily="2" charset="0"/>
              </a:rPr>
            </a:br>
            <a:endParaRPr lang="en-GB" sz="1600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B1C0CD-3D4A-FA7E-8DE3-7D90E4D466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948" y="1372080"/>
            <a:ext cx="4610099" cy="1548705"/>
          </a:xfrm>
          <a:prstGeom prst="rect">
            <a:avLst/>
          </a:prstGeom>
        </p:spPr>
      </p:pic>
      <p:pic>
        <p:nvPicPr>
          <p:cNvPr id="1026" name="Picture 2" descr="CyrusOne-Logo-RGB-Black - Loudoun Chamber">
            <a:extLst>
              <a:ext uri="{FF2B5EF4-FFF2-40B4-BE49-F238E27FC236}">
                <a16:creationId xmlns:a16="http://schemas.microsoft.com/office/drawing/2014/main" id="{D6CD8F69-687F-14D1-79CF-8890B2999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344" y="4796723"/>
            <a:ext cx="4109305" cy="702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C723E9-189A-0B6C-FFAD-9B80526CD3B7}"/>
              </a:ext>
            </a:extLst>
          </p:cNvPr>
          <p:cNvCxnSpPr>
            <a:cxnSpLocks/>
          </p:cNvCxnSpPr>
          <p:nvPr/>
        </p:nvCxnSpPr>
        <p:spPr>
          <a:xfrm>
            <a:off x="6838948" y="3766306"/>
            <a:ext cx="46892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95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BE8E78E-9601-ED3F-F853-3ACC1BEC9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250311"/>
              </p:ext>
            </p:extLst>
          </p:nvPr>
        </p:nvGraphicFramePr>
        <p:xfrm>
          <a:off x="2915696" y="2076834"/>
          <a:ext cx="6242592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2592">
                  <a:extLst>
                    <a:ext uri="{9D8B030D-6E8A-4147-A177-3AD203B41FA5}">
                      <a16:colId xmlns:a16="http://schemas.microsoft.com/office/drawing/2014/main" val="2430885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b="0" kern="1200">
                          <a:solidFill>
                            <a:srgbClr val="F4F4F4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Portfolio Safety Performance</a:t>
                      </a:r>
                      <a:endParaRPr lang="en-GB" sz="2000" b="0">
                        <a:solidFill>
                          <a:srgbClr val="F4F4F4"/>
                        </a:solidFill>
                        <a:latin typeface="Helvetica" pitchFamily="2" charset="0"/>
                        <a:cs typeface="Gujarati MT" pitchFamily="2" charset="0"/>
                      </a:endParaRPr>
                    </a:p>
                  </a:txBody>
                  <a:tcPr anchor="ctr">
                    <a:solidFill>
                      <a:srgbClr val="659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50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Benchmarking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895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Data Limitations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31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Recommendations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6137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E5D2968-86F4-1C69-F0F7-BE842C9BEAE1}"/>
              </a:ext>
            </a:extLst>
          </p:cNvPr>
          <p:cNvSpPr txBox="1"/>
          <p:nvPr/>
        </p:nvSpPr>
        <p:spPr>
          <a:xfrm>
            <a:off x="5931568" y="67497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6228B2B-70B4-5E4B-0A7D-93EC0D1491D9}"/>
              </a:ext>
            </a:extLst>
          </p:cNvPr>
          <p:cNvSpPr txBox="1">
            <a:spLocks/>
          </p:cNvSpPr>
          <p:nvPr/>
        </p:nvSpPr>
        <p:spPr>
          <a:xfrm>
            <a:off x="713498" y="401765"/>
            <a:ext cx="10665703" cy="2189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 defTabSz="9905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950" b="0" i="0" kern="1200" cap="all" spc="457" baseline="0" noProof="0">
                <a:solidFill>
                  <a:schemeClr val="accent1"/>
                </a:solidFill>
                <a:latin typeface="FuturaTOTMed"/>
                <a:ea typeface="+mn-ea"/>
                <a:cs typeface="+mj-cs"/>
              </a:defRPr>
            </a:lvl1pPr>
          </a:lstStyle>
          <a:p>
            <a:pPr algn="l" defTabSz="990570"/>
            <a:r>
              <a:rPr lang="en-US" sz="1951">
                <a:solidFill>
                  <a:srgbClr val="659ECA"/>
                </a:solidFill>
                <a:latin typeface="Helvetica" pitchFamily="2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332459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EBF87-630A-F5C0-47BE-6C5060C7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57A522-510F-12A6-BD84-AD679FCBC313}"/>
              </a:ext>
            </a:extLst>
          </p:cNvPr>
          <p:cNvSpPr/>
          <p:nvPr/>
        </p:nvSpPr>
        <p:spPr>
          <a:xfrm>
            <a:off x="714152" y="764706"/>
            <a:ext cx="236929" cy="45719"/>
          </a:xfrm>
          <a:prstGeom prst="rect">
            <a:avLst/>
          </a:prstGeom>
          <a:solidFill>
            <a:srgbClr val="659E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fr-FR">
              <a:solidFill>
                <a:srgbClr val="659ECA"/>
              </a:solidFill>
              <a:latin typeface="FuturaTOT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78E0B35C-EDED-5A05-E422-B1790DB7AB22}"/>
              </a:ext>
            </a:extLst>
          </p:cNvPr>
          <p:cNvSpPr txBox="1">
            <a:spLocks/>
          </p:cNvSpPr>
          <p:nvPr/>
        </p:nvSpPr>
        <p:spPr>
          <a:xfrm>
            <a:off x="713498" y="401765"/>
            <a:ext cx="10665703" cy="2189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 defTabSz="9905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950" b="0" i="0" kern="1200" cap="all" spc="457" baseline="0" noProof="0">
                <a:solidFill>
                  <a:schemeClr val="accent1"/>
                </a:solidFill>
                <a:latin typeface="FuturaTOTMed"/>
                <a:ea typeface="+mn-ea"/>
                <a:cs typeface="+mj-cs"/>
              </a:defRPr>
            </a:lvl1pPr>
          </a:lstStyle>
          <a:p>
            <a:pPr algn="l" defTabSz="990570"/>
            <a:r>
              <a:rPr lang="en-GB" sz="1800" dirty="0">
                <a:latin typeface="Helvetica" pitchFamily="2" charset="0"/>
              </a:rPr>
              <a:t>Cyrus one Performance</a:t>
            </a:r>
            <a:endParaRPr lang="en-GB" sz="1800" dirty="0">
              <a:latin typeface="Helvetica" pitchFamily="2" charset="0"/>
              <a:cs typeface="Gujarati MT" pitchFamily="2" charset="0"/>
            </a:endParaRPr>
          </a:p>
          <a:p>
            <a:pPr algn="l" defTabSz="990570"/>
            <a:endParaRPr lang="en-US" sz="1951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E63EC-73A3-A48F-86ED-B93D1BB4DAEB}"/>
              </a:ext>
            </a:extLst>
          </p:cNvPr>
          <p:cNvSpPr/>
          <p:nvPr/>
        </p:nvSpPr>
        <p:spPr>
          <a:xfrm>
            <a:off x="697342" y="919979"/>
            <a:ext cx="5922348" cy="32582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endParaRPr lang="en-US" sz="1200" b="1" kern="0">
              <a:solidFill>
                <a:srgbClr val="023C65"/>
              </a:solidFill>
              <a:latin typeface="Helvetica" pitchFamily="2" charset="0"/>
            </a:endParaRPr>
          </a:p>
        </p:txBody>
      </p:sp>
      <p:cxnSp>
        <p:nvCxnSpPr>
          <p:cNvPr id="4" name="Connecteur droit 80">
            <a:extLst>
              <a:ext uri="{FF2B5EF4-FFF2-40B4-BE49-F238E27FC236}">
                <a16:creationId xmlns:a16="http://schemas.microsoft.com/office/drawing/2014/main" id="{92EE2713-DE4A-27A5-2313-039017E79EAB}"/>
              </a:ext>
            </a:extLst>
          </p:cNvPr>
          <p:cNvCxnSpPr>
            <a:cxnSpLocks/>
          </p:cNvCxnSpPr>
          <p:nvPr/>
        </p:nvCxnSpPr>
        <p:spPr>
          <a:xfrm>
            <a:off x="697342" y="1254513"/>
            <a:ext cx="4454495" cy="0"/>
          </a:xfrm>
          <a:prstGeom prst="line">
            <a:avLst/>
          </a:prstGeom>
          <a:noFill/>
          <a:ln w="6350" cap="flat" cmpd="sng" algn="ctr">
            <a:solidFill>
              <a:srgbClr val="00007C"/>
            </a:solidFill>
            <a:prstDash val="solid"/>
            <a:miter lim="800000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8F6B3AB-7127-871B-4215-E2BD07ACA5F8}"/>
              </a:ext>
            </a:extLst>
          </p:cNvPr>
          <p:cNvSpPr/>
          <p:nvPr/>
        </p:nvSpPr>
        <p:spPr>
          <a:xfrm>
            <a:off x="645030" y="960052"/>
            <a:ext cx="5922348" cy="32582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r>
              <a:rPr lang="en-GB" sz="1200" kern="0" dirty="0">
                <a:solidFill>
                  <a:srgbClr val="023C65"/>
                </a:solidFill>
                <a:latin typeface="Helvetica" pitchFamily="2" charset="0"/>
              </a:rPr>
              <a:t>Portfolio Overview</a:t>
            </a:r>
            <a:endParaRPr lang="en-US" sz="1200" b="1" kern="0" dirty="0">
              <a:solidFill>
                <a:srgbClr val="023C65"/>
              </a:solidFill>
              <a:latin typeface="Helvetica" pitchFamily="2" charset="0"/>
            </a:endParaRPr>
          </a:p>
        </p:txBody>
      </p:sp>
      <p:cxnSp>
        <p:nvCxnSpPr>
          <p:cNvPr id="16" name="Connecteur droit 80">
            <a:extLst>
              <a:ext uri="{FF2B5EF4-FFF2-40B4-BE49-F238E27FC236}">
                <a16:creationId xmlns:a16="http://schemas.microsoft.com/office/drawing/2014/main" id="{88E9A1D1-617E-78E5-54D1-E5DBA7D695FA}"/>
              </a:ext>
            </a:extLst>
          </p:cNvPr>
          <p:cNvCxnSpPr>
            <a:cxnSpLocks/>
          </p:cNvCxnSpPr>
          <p:nvPr/>
        </p:nvCxnSpPr>
        <p:spPr>
          <a:xfrm>
            <a:off x="7562335" y="1246722"/>
            <a:ext cx="3595820" cy="0"/>
          </a:xfrm>
          <a:prstGeom prst="line">
            <a:avLst/>
          </a:prstGeom>
          <a:noFill/>
          <a:ln w="6350" cap="flat" cmpd="sng" algn="ctr">
            <a:solidFill>
              <a:srgbClr val="00007C"/>
            </a:solidFill>
            <a:prstDash val="solid"/>
            <a:miter lim="800000"/>
          </a:ln>
          <a:effectLst/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1164658-D1AE-8623-19CC-A42371422EC7}"/>
              </a:ext>
            </a:extLst>
          </p:cNvPr>
          <p:cNvSpPr/>
          <p:nvPr/>
        </p:nvSpPr>
        <p:spPr>
          <a:xfrm>
            <a:off x="690265" y="3829264"/>
            <a:ext cx="5922348" cy="32582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endParaRPr lang="en-US" sz="1067" b="1" kern="0">
              <a:solidFill>
                <a:srgbClr val="94B7BB">
                  <a:lumMod val="50000"/>
                </a:srgbClr>
              </a:solidFill>
              <a:latin typeface="FuturaTOT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8EA31F-D129-EF6A-5FB5-BECF23DA45C6}"/>
              </a:ext>
            </a:extLst>
          </p:cNvPr>
          <p:cNvCxnSpPr>
            <a:cxnSpLocks/>
          </p:cNvCxnSpPr>
          <p:nvPr/>
        </p:nvCxnSpPr>
        <p:spPr>
          <a:xfrm>
            <a:off x="11307382" y="2157639"/>
            <a:ext cx="0" cy="210607"/>
          </a:xfrm>
          <a:prstGeom prst="line">
            <a:avLst/>
          </a:prstGeom>
          <a:noFill/>
          <a:ln w="6350" cap="flat" cmpd="sng" algn="ctr">
            <a:solidFill>
              <a:srgbClr val="94B7BB"/>
            </a:solidFill>
            <a:prstDash val="solid"/>
            <a:miter lim="800000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831E998-CC3C-5D65-20C4-650B54FBCA8C}"/>
              </a:ext>
            </a:extLst>
          </p:cNvPr>
          <p:cNvSpPr txBox="1"/>
          <p:nvPr/>
        </p:nvSpPr>
        <p:spPr>
          <a:xfrm>
            <a:off x="6410293" y="3386243"/>
            <a:ext cx="404042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4181" lvl="1" algn="ctr" defTabSz="414622" fontAlgn="base">
              <a:spcBef>
                <a:spcPts val="800"/>
              </a:spcBef>
              <a:buClr>
                <a:srgbClr val="00007C"/>
              </a:buClr>
              <a:buSzPct val="125000"/>
              <a:defRPr/>
            </a:pPr>
            <a:r>
              <a:rPr lang="en-US" altLang="fr-FR" sz="1067" kern="0">
                <a:solidFill>
                  <a:srgbClr val="00FF19"/>
                </a:solidFill>
                <a:latin typeface="FuturaTOT"/>
                <a:cs typeface="Arial" charset="0"/>
              </a:rPr>
              <a:t>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C57398-58F3-A13A-8FCB-4DB1C5F4D1C9}"/>
              </a:ext>
            </a:extLst>
          </p:cNvPr>
          <p:cNvSpPr/>
          <p:nvPr/>
        </p:nvSpPr>
        <p:spPr>
          <a:xfrm>
            <a:off x="9210545" y="3603641"/>
            <a:ext cx="2574088" cy="457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endParaRPr lang="en-US" sz="2400" kern="0">
              <a:solidFill>
                <a:srgbClr val="E13C32"/>
              </a:solidFill>
              <a:latin typeface="FuturaTO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428E43C-06A0-566C-15DE-3E1B4BB0BE16}"/>
              </a:ext>
            </a:extLst>
          </p:cNvPr>
          <p:cNvSpPr/>
          <p:nvPr/>
        </p:nvSpPr>
        <p:spPr>
          <a:xfrm>
            <a:off x="9191004" y="4702733"/>
            <a:ext cx="2593629" cy="6123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endParaRPr lang="en-US" sz="2400" kern="0">
              <a:solidFill>
                <a:srgbClr val="E13C32"/>
              </a:solidFill>
              <a:latin typeface="FuturaTO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04582B-AB61-DABC-B103-4685ECEFB1E1}"/>
              </a:ext>
            </a:extLst>
          </p:cNvPr>
          <p:cNvSpPr/>
          <p:nvPr/>
        </p:nvSpPr>
        <p:spPr>
          <a:xfrm>
            <a:off x="7562335" y="1649698"/>
            <a:ext cx="3816866" cy="46571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48000" tIns="48000" rIns="48000" bIns="48000" rtlCol="0" anchor="ctr"/>
          <a:lstStyle/>
          <a:p>
            <a:pPr algn="just" defTabSz="1219140">
              <a:defRPr/>
            </a:pPr>
            <a:endParaRPr lang="en-GB" sz="1067" b="1" kern="0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BAC9F8-5C53-D3E3-3D00-238831912056}"/>
              </a:ext>
            </a:extLst>
          </p:cNvPr>
          <p:cNvSpPr/>
          <p:nvPr/>
        </p:nvSpPr>
        <p:spPr>
          <a:xfrm>
            <a:off x="7946571" y="1618188"/>
            <a:ext cx="3617321" cy="7500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48000" tIns="48000" rIns="48000" bIns="48000" rtlCol="0" anchor="ctr"/>
          <a:lstStyle/>
          <a:p>
            <a:pPr algn="just" defTabSz="1219140">
              <a:defRPr/>
            </a:pPr>
            <a:r>
              <a:rPr lang="en-GB" sz="1067" kern="0" dirty="0">
                <a:solidFill>
                  <a:srgbClr val="023C65"/>
                </a:solidFill>
                <a:latin typeface="Helvetica" pitchFamily="2" charset="0"/>
              </a:rPr>
              <a:t>After the regression was run, </a:t>
            </a:r>
            <a:r>
              <a:rPr lang="en-GB" sz="1067" b="1" kern="0" dirty="0">
                <a:solidFill>
                  <a:srgbClr val="023C65"/>
                </a:solidFill>
                <a:latin typeface="Helvetica" pitchFamily="2" charset="0"/>
              </a:rPr>
              <a:t>no correlation </a:t>
            </a:r>
            <a:r>
              <a:rPr lang="en-GB" sz="1067" kern="0" dirty="0">
                <a:solidFill>
                  <a:srgbClr val="023C65"/>
                </a:solidFill>
                <a:latin typeface="Helvetica" pitchFamily="2" charset="0"/>
              </a:rPr>
              <a:t>was identified between all metrics and </a:t>
            </a:r>
            <a:r>
              <a:rPr lang="en-GB" sz="1067" b="1" kern="0" dirty="0">
                <a:solidFill>
                  <a:srgbClr val="023C65"/>
                </a:solidFill>
                <a:latin typeface="Helvetica" pitchFamily="2" charset="0"/>
              </a:rPr>
              <a:t>Fines paid</a:t>
            </a:r>
            <a:r>
              <a:rPr lang="en-GB" sz="1067" kern="0" dirty="0">
                <a:solidFill>
                  <a:srgbClr val="023C65"/>
                </a:solidFill>
                <a:latin typeface="Helvetica" pitchFamily="2" charset="0"/>
              </a:rPr>
              <a:t>.</a:t>
            </a:r>
          </a:p>
          <a:p>
            <a:pPr marL="171450" indent="-171450" algn="just" defTabSz="1219140">
              <a:buFontTx/>
              <a:buChar char="-"/>
              <a:defRPr/>
            </a:pPr>
            <a:r>
              <a:rPr lang="en-GB" sz="1067" kern="0" dirty="0">
                <a:solidFill>
                  <a:srgbClr val="023C65"/>
                </a:solidFill>
                <a:latin typeface="Helvetica" pitchFamily="2" charset="0"/>
              </a:rPr>
              <a:t>Likewise with training completion rate</a:t>
            </a:r>
          </a:p>
          <a:p>
            <a:pPr algn="just" defTabSz="1219140">
              <a:defRPr/>
            </a:pPr>
            <a:r>
              <a:rPr lang="en-GB" sz="1067" kern="0" dirty="0">
                <a:solidFill>
                  <a:srgbClr val="023C65"/>
                </a:solidFill>
                <a:latin typeface="Helvetica" pitchFamily="2" charset="0"/>
              </a:rPr>
              <a:t>  </a:t>
            </a:r>
            <a:endParaRPr lang="en-GB" sz="1067" b="1" kern="0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389AE0-8843-81D3-1535-28B3F09C160B}"/>
              </a:ext>
            </a:extLst>
          </p:cNvPr>
          <p:cNvSpPr/>
          <p:nvPr/>
        </p:nvSpPr>
        <p:spPr>
          <a:xfrm>
            <a:off x="7562335" y="960052"/>
            <a:ext cx="5922348" cy="32582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r>
              <a:rPr lang="en-GB" sz="1200" kern="0" dirty="0">
                <a:solidFill>
                  <a:srgbClr val="023C65"/>
                </a:solidFill>
                <a:latin typeface="Helvetica" pitchFamily="2" charset="0"/>
              </a:rPr>
              <a:t>Other Indicators</a:t>
            </a:r>
            <a:endParaRPr lang="en-US" sz="1200" b="1" kern="0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93AACB9-BA95-D5A7-936E-813B5F2DCBF9}"/>
              </a:ext>
            </a:extLst>
          </p:cNvPr>
          <p:cNvSpPr/>
          <p:nvPr/>
        </p:nvSpPr>
        <p:spPr>
          <a:xfrm>
            <a:off x="628107" y="1531101"/>
            <a:ext cx="6442281" cy="1192185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endParaRPr lang="en-US" sz="1200" kern="0" dirty="0">
              <a:solidFill>
                <a:srgbClr val="323C46"/>
              </a:solidFill>
              <a:latin typeface="FuturaTOT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E62B049-844E-BD3D-A9BE-FAFBBD450200}"/>
              </a:ext>
            </a:extLst>
          </p:cNvPr>
          <p:cNvSpPr/>
          <p:nvPr/>
        </p:nvSpPr>
        <p:spPr>
          <a:xfrm>
            <a:off x="1316517" y="1741688"/>
            <a:ext cx="2483748" cy="304835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23C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>
                <a:solidFill>
                  <a:srgbClr val="023C65"/>
                </a:solidFill>
                <a:latin typeface="Helvetica" pitchFamily="2" charset="0"/>
              </a:rPr>
              <a:t>HQ Dallas, Texas</a:t>
            </a:r>
            <a:r>
              <a:rPr lang="en-GB" sz="900" dirty="0">
                <a:solidFill>
                  <a:srgbClr val="023C65"/>
                </a:solidFill>
                <a:latin typeface="Helvetica" pitchFamily="2" charset="0"/>
              </a:rPr>
              <a:t>  </a:t>
            </a:r>
            <a:endParaRPr lang="en-GB" sz="1050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D26D05-48FC-050E-E3C8-EA38D77AD09F}"/>
              </a:ext>
            </a:extLst>
          </p:cNvPr>
          <p:cNvSpPr/>
          <p:nvPr/>
        </p:nvSpPr>
        <p:spPr>
          <a:xfrm>
            <a:off x="1316516" y="2180633"/>
            <a:ext cx="2483749" cy="307321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23C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>
                <a:solidFill>
                  <a:srgbClr val="023C65"/>
                </a:solidFill>
                <a:latin typeface="Helvetica" pitchFamily="2" charset="0"/>
              </a:rPr>
              <a:t>50</a:t>
            </a:r>
            <a:r>
              <a:rPr lang="en-GB" sz="900" dirty="0">
                <a:solidFill>
                  <a:srgbClr val="023C65"/>
                </a:solidFill>
                <a:latin typeface="Helvetica" pitchFamily="2" charset="0"/>
              </a:rPr>
              <a:t> Data centres</a:t>
            </a:r>
            <a:endParaRPr lang="en-GB" sz="1050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69647C0-7ED8-9190-AAC2-ECD1DFBA0A84}"/>
              </a:ext>
            </a:extLst>
          </p:cNvPr>
          <p:cNvSpPr/>
          <p:nvPr/>
        </p:nvSpPr>
        <p:spPr>
          <a:xfrm>
            <a:off x="645031" y="2986099"/>
            <a:ext cx="6447748" cy="1082670"/>
          </a:xfrm>
          <a:prstGeom prst="roundRect">
            <a:avLst/>
          </a:prstGeom>
          <a:solidFill>
            <a:srgbClr val="93B9D7">
              <a:alpha val="28627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GB" sz="1200" b="1" i="1" dirty="0">
                <a:solidFill>
                  <a:srgbClr val="023C65"/>
                </a:solidFill>
                <a:latin typeface="Helvetica" pitchFamily="2" charset="0"/>
              </a:rPr>
              <a:t>Digital</a:t>
            </a:r>
            <a:r>
              <a:rPr lang="en-GB" sz="1200" b="1" i="1">
                <a:solidFill>
                  <a:srgbClr val="023C65"/>
                </a:solidFill>
                <a:latin typeface="Helvetica" pitchFamily="2" charset="0"/>
              </a:rPr>
              <a:t>: </a:t>
            </a:r>
            <a:r>
              <a:rPr lang="en-GB" sz="1200" i="1">
                <a:solidFill>
                  <a:srgbClr val="023C65"/>
                </a:solidFill>
                <a:latin typeface="Helvetica" pitchFamily="2" charset="0"/>
              </a:rPr>
              <a:t>Performance.</a:t>
            </a:r>
            <a:endParaRPr lang="en-GB" sz="1200" i="1" dirty="0">
              <a:solidFill>
                <a:srgbClr val="023C65"/>
              </a:solidFill>
              <a:latin typeface="Helvetica" pitchFamily="2" charset="0"/>
            </a:endParaRPr>
          </a:p>
          <a:p>
            <a:r>
              <a:rPr lang="en-GB" sz="1200" b="1" i="1" dirty="0">
                <a:solidFill>
                  <a:srgbClr val="023C65"/>
                </a:solidFill>
                <a:latin typeface="Helvetica" pitchFamily="2" charset="0"/>
              </a:rPr>
              <a:t>Energy &amp; Midstream: </a:t>
            </a:r>
            <a:r>
              <a:rPr lang="en-GB" sz="1200" i="1" dirty="0">
                <a:solidFill>
                  <a:srgbClr val="023C65"/>
                </a:solidFill>
                <a:latin typeface="Helvetica" pitchFamily="2" charset="0"/>
              </a:rPr>
              <a:t>TRIR.</a:t>
            </a:r>
          </a:p>
          <a:p>
            <a:r>
              <a:rPr lang="en-GB" sz="1200" b="1" i="1" dirty="0">
                <a:solidFill>
                  <a:srgbClr val="023C65"/>
                </a:solidFill>
                <a:latin typeface="Helvetica" pitchFamily="2" charset="0"/>
              </a:rPr>
              <a:t>Renewables: </a:t>
            </a:r>
            <a:r>
              <a:rPr lang="en-GB" sz="1200" i="1" dirty="0">
                <a:solidFill>
                  <a:srgbClr val="023C65"/>
                </a:solidFill>
                <a:latin typeface="Helvetica" pitchFamily="2" charset="0"/>
              </a:rPr>
              <a:t>Slight.</a:t>
            </a:r>
          </a:p>
          <a:p>
            <a:r>
              <a:rPr lang="en-GB" sz="1200" b="1" i="1" dirty="0">
                <a:solidFill>
                  <a:srgbClr val="023C65"/>
                </a:solidFill>
                <a:latin typeface="Helvetica" pitchFamily="2" charset="0"/>
              </a:rPr>
              <a:t>Transport: </a:t>
            </a:r>
            <a:r>
              <a:rPr lang="en-GB" sz="1200" i="1" dirty="0">
                <a:solidFill>
                  <a:srgbClr val="023C65"/>
                </a:solidFill>
                <a:latin typeface="Helvetica" pitchFamily="2" charset="0"/>
              </a:rPr>
              <a:t>Clear improvement</a:t>
            </a:r>
            <a:endParaRPr lang="en-US" sz="1200" kern="0" dirty="0">
              <a:solidFill>
                <a:srgbClr val="E13C32"/>
              </a:solidFill>
              <a:latin typeface="FuturaTOT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34C6477B-C0D4-DD62-0976-94525853FE2E}"/>
              </a:ext>
            </a:extLst>
          </p:cNvPr>
          <p:cNvSpPr/>
          <p:nvPr/>
        </p:nvSpPr>
        <p:spPr>
          <a:xfrm>
            <a:off x="832614" y="2840385"/>
            <a:ext cx="1951799" cy="282623"/>
          </a:xfrm>
          <a:prstGeom prst="roundRect">
            <a:avLst/>
          </a:prstGeom>
          <a:solidFill>
            <a:srgbClr val="659EC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r>
              <a:rPr lang="en-US" sz="1200" b="1" kern="0" dirty="0">
                <a:solidFill>
                  <a:srgbClr val="FFFFFF"/>
                </a:solidFill>
                <a:latin typeface="Helvetica" pitchFamily="2" charset="0"/>
              </a:rPr>
              <a:t>Executive Summary 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0865C0A-E8AC-9F05-B612-AC0984849ADE}"/>
              </a:ext>
            </a:extLst>
          </p:cNvPr>
          <p:cNvSpPr/>
          <p:nvPr/>
        </p:nvSpPr>
        <p:spPr>
          <a:xfrm>
            <a:off x="645031" y="4383333"/>
            <a:ext cx="6447748" cy="956021"/>
          </a:xfrm>
          <a:prstGeom prst="roundRect">
            <a:avLst/>
          </a:prstGeom>
          <a:solidFill>
            <a:srgbClr val="93B9D7">
              <a:alpha val="28627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GB" sz="1200" b="1" dirty="0">
                <a:solidFill>
                  <a:srgbClr val="023C65"/>
                </a:solidFill>
                <a:latin typeface="Helvetica" pitchFamily="2" charset="0"/>
              </a:rPr>
              <a:t>Digital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: Stable (–0.10).</a:t>
            </a:r>
          </a:p>
          <a:p>
            <a:r>
              <a:rPr lang="en-GB" sz="1200" b="1" dirty="0">
                <a:solidFill>
                  <a:srgbClr val="023C65"/>
                </a:solidFill>
                <a:latin typeface="Helvetica" pitchFamily="2" charset="0"/>
              </a:rPr>
              <a:t>Energy &amp; Midstream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:.</a:t>
            </a:r>
          </a:p>
          <a:p>
            <a:r>
              <a:rPr lang="en-GB" sz="1200" b="1" dirty="0">
                <a:solidFill>
                  <a:srgbClr val="023C65"/>
                </a:solidFill>
                <a:latin typeface="Helvetica" pitchFamily="2" charset="0"/>
              </a:rPr>
              <a:t>Renewables: 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.</a:t>
            </a:r>
          </a:p>
          <a:p>
            <a:r>
              <a:rPr lang="en-GB" sz="1200" b="1" dirty="0">
                <a:solidFill>
                  <a:srgbClr val="023C65"/>
                </a:solidFill>
                <a:latin typeface="Helvetica" pitchFamily="2" charset="0"/>
              </a:rPr>
              <a:t>Transport: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.</a:t>
            </a:r>
          </a:p>
        </p:txBody>
      </p:sp>
      <p:sp>
        <p:nvSpPr>
          <p:cNvPr id="25" name="Rectangle: Rounded Corners 38">
            <a:extLst>
              <a:ext uri="{FF2B5EF4-FFF2-40B4-BE49-F238E27FC236}">
                <a16:creationId xmlns:a16="http://schemas.microsoft.com/office/drawing/2014/main" id="{DC26F27F-A29D-1828-94AE-2224C08B95F3}"/>
              </a:ext>
            </a:extLst>
          </p:cNvPr>
          <p:cNvSpPr/>
          <p:nvPr/>
        </p:nvSpPr>
        <p:spPr>
          <a:xfrm>
            <a:off x="832614" y="4162030"/>
            <a:ext cx="1951799" cy="282623"/>
          </a:xfrm>
          <a:prstGeom prst="roundRect">
            <a:avLst/>
          </a:prstGeom>
          <a:solidFill>
            <a:srgbClr val="659EC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r>
              <a:rPr lang="en-US" sz="1200" b="1" kern="0" dirty="0">
                <a:solidFill>
                  <a:srgbClr val="FFFFFF"/>
                </a:solidFill>
                <a:latin typeface="Helvetica" pitchFamily="2" charset="0"/>
              </a:rPr>
              <a:t>Risk 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E89FA58-61E5-7315-02BE-F29F09121D60}"/>
              </a:ext>
            </a:extLst>
          </p:cNvPr>
          <p:cNvSpPr/>
          <p:nvPr/>
        </p:nvSpPr>
        <p:spPr>
          <a:xfrm>
            <a:off x="645032" y="5625073"/>
            <a:ext cx="6447748" cy="831162"/>
          </a:xfrm>
          <a:prstGeom prst="roundRect">
            <a:avLst/>
          </a:prstGeom>
          <a:solidFill>
            <a:srgbClr val="93B9D7">
              <a:alpha val="28627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Generally </a:t>
            </a:r>
            <a:r>
              <a:rPr lang="en-GB" sz="1200" b="1" dirty="0">
                <a:solidFill>
                  <a:srgbClr val="023C65"/>
                </a:solidFill>
                <a:latin typeface="Helvetica" pitchFamily="2" charset="0"/>
              </a:rPr>
              <a:t>flat or z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:</a:t>
            </a:r>
          </a:p>
          <a:p>
            <a:r>
              <a:rPr lang="en-GB" sz="1200" b="1" dirty="0">
                <a:solidFill>
                  <a:srgbClr val="023C65"/>
                </a:solidFill>
                <a:latin typeface="Helvetica" pitchFamily="2" charset="0"/>
              </a:rPr>
              <a:t>Energy: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 FR </a:t>
            </a:r>
            <a:r>
              <a:rPr lang="en-GB" sz="1200" b="1" dirty="0">
                <a:solidFill>
                  <a:srgbClr val="023C65"/>
                </a:solidFill>
                <a:latin typeface="Helvetica" pitchFamily="2" charset="0"/>
              </a:rPr>
              <a:t>3.38)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.</a:t>
            </a:r>
          </a:p>
          <a:p>
            <a:r>
              <a:rPr lang="en-GB" sz="1200" b="1" dirty="0">
                <a:solidFill>
                  <a:srgbClr val="023C65"/>
                </a:solidFill>
                <a:latin typeface="Helvetica" pitchFamily="2" charset="0"/>
              </a:rPr>
              <a:t>Renewables &amp; Transport: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 Stable</a:t>
            </a:r>
          </a:p>
        </p:txBody>
      </p:sp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9B41E13A-A0D4-971E-E04A-4CA219D2216D}"/>
              </a:ext>
            </a:extLst>
          </p:cNvPr>
          <p:cNvSpPr/>
          <p:nvPr/>
        </p:nvSpPr>
        <p:spPr>
          <a:xfrm>
            <a:off x="832614" y="5422171"/>
            <a:ext cx="1951799" cy="282623"/>
          </a:xfrm>
          <a:prstGeom prst="roundRect">
            <a:avLst/>
          </a:prstGeom>
          <a:solidFill>
            <a:srgbClr val="659EC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r>
              <a:rPr lang="en-US" sz="1200" b="1" kern="0" dirty="0">
                <a:solidFill>
                  <a:srgbClr val="FFFFFF"/>
                </a:solidFill>
                <a:latin typeface="Helvetica" pitchFamily="2" charset="0"/>
              </a:rPr>
              <a:t>Opportunities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ACDFC8-42E0-5044-BEE0-6EFCFA52AA23}"/>
              </a:ext>
            </a:extLst>
          </p:cNvPr>
          <p:cNvSpPr/>
          <p:nvPr/>
        </p:nvSpPr>
        <p:spPr>
          <a:xfrm>
            <a:off x="7588189" y="2737025"/>
            <a:ext cx="3121140" cy="80388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48000" tIns="48000" rIns="48000" bIns="48000" rtlCol="0" anchor="ctr"/>
          <a:lstStyle/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r>
              <a:rPr lang="en-US" sz="1200" b="1" dirty="0">
                <a:solidFill>
                  <a:srgbClr val="023C65"/>
                </a:solidFill>
                <a:latin typeface="Helvetica" pitchFamily="2" charset="0"/>
              </a:rPr>
              <a:t>Company Supporting Metrics 2025:  </a:t>
            </a: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r>
              <a:rPr lang="en-US" sz="1200" b="1" dirty="0">
                <a:solidFill>
                  <a:srgbClr val="023C65"/>
                </a:solidFill>
                <a:latin typeface="Helvetica" pitchFamily="2" charset="0"/>
              </a:rPr>
              <a:t> </a:t>
            </a:r>
            <a:endParaRPr lang="en-US" sz="1200" b="1" dirty="0">
              <a:solidFill>
                <a:srgbClr val="023C65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US" b="1" dirty="0">
              <a:solidFill>
                <a:srgbClr val="023C65"/>
              </a:solidFill>
              <a:highlight>
                <a:srgbClr val="FFFF00"/>
              </a:highlight>
              <a:latin typeface="Helvetica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FB01E8-E341-4C22-77F8-B41B6ED734FB}"/>
              </a:ext>
            </a:extLst>
          </p:cNvPr>
          <p:cNvSpPr/>
          <p:nvPr/>
        </p:nvSpPr>
        <p:spPr>
          <a:xfrm>
            <a:off x="8865463" y="4294391"/>
            <a:ext cx="2593629" cy="14104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48000" tIns="48000" rIns="48000" bIns="48000" rtlCol="0" anchor="ctr"/>
          <a:lstStyle/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US" sz="800" b="1" dirty="0">
              <a:solidFill>
                <a:srgbClr val="023C65"/>
              </a:solidFill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r>
              <a:rPr lang="en-GB" sz="1600" b="1" dirty="0">
                <a:solidFill>
                  <a:srgbClr val="023C65"/>
                </a:solidFill>
                <a:latin typeface="Helvetica" pitchFamily="2" charset="0"/>
              </a:rPr>
              <a:t>100% </a:t>
            </a:r>
            <a:r>
              <a:rPr lang="en-GB" sz="1000" dirty="0">
                <a:solidFill>
                  <a:srgbClr val="023C65"/>
                </a:solidFill>
                <a:latin typeface="Helvetica" pitchFamily="2" charset="0"/>
              </a:rPr>
              <a:t>of European operations renewable energy</a:t>
            </a: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GB" sz="1000" b="1" dirty="0">
              <a:solidFill>
                <a:srgbClr val="023C65"/>
              </a:solidFill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r>
              <a:rPr lang="en-GB" sz="1000" dirty="0">
                <a:solidFill>
                  <a:srgbClr val="023C65"/>
                </a:solidFill>
                <a:latin typeface="Helvetica" pitchFamily="2" charset="0"/>
              </a:rPr>
              <a:t>Climate neutral by </a:t>
            </a:r>
            <a:r>
              <a:rPr lang="en-GB" sz="1600" b="1" dirty="0">
                <a:solidFill>
                  <a:srgbClr val="023C65"/>
                </a:solidFill>
                <a:latin typeface="Helvetica" pitchFamily="2" charset="0"/>
              </a:rPr>
              <a:t>2030</a:t>
            </a:r>
            <a:r>
              <a:rPr lang="en-GB" sz="1600" dirty="0">
                <a:solidFill>
                  <a:srgbClr val="023C65"/>
                </a:solidFill>
                <a:latin typeface="Helvetica" pitchFamily="2" charset="0"/>
              </a:rPr>
              <a:t> </a:t>
            </a:r>
            <a:r>
              <a:rPr lang="en-GB" sz="1000" dirty="0">
                <a:solidFill>
                  <a:srgbClr val="023C65"/>
                </a:solidFill>
                <a:latin typeface="Helvetica" pitchFamily="2" charset="0"/>
              </a:rPr>
              <a:t>(SBTI Validated)</a:t>
            </a: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GB" sz="1000" dirty="0">
              <a:solidFill>
                <a:srgbClr val="023C65"/>
              </a:solidFill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Total carbon free electricity </a:t>
            </a:r>
            <a:r>
              <a:rPr lang="en-GB" b="1" dirty="0">
                <a:solidFill>
                  <a:srgbClr val="023C65"/>
                </a:solidFill>
                <a:latin typeface="Helvetica" pitchFamily="2" charset="0"/>
              </a:rPr>
              <a:t>75%</a:t>
            </a: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GB" sz="1000" dirty="0">
              <a:solidFill>
                <a:srgbClr val="023C65"/>
              </a:solidFill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r>
              <a:rPr lang="en-GB" sz="1600" b="1" dirty="0">
                <a:solidFill>
                  <a:srgbClr val="023C65"/>
                </a:solidFill>
                <a:latin typeface="Helvetica" pitchFamily="2" charset="0"/>
              </a:rPr>
              <a:t> 18 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Regulatory findings </a:t>
            </a: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GB" sz="1000" dirty="0">
              <a:solidFill>
                <a:srgbClr val="023C65"/>
              </a:solidFill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r>
              <a:rPr lang="en-GB" sz="1600" dirty="0">
                <a:solidFill>
                  <a:srgbClr val="023C65"/>
                </a:solidFill>
                <a:latin typeface="Helvetica" pitchFamily="2" charset="0"/>
              </a:rPr>
              <a:t>40-45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 inspections per asset</a:t>
            </a:r>
            <a:endParaRPr lang="en-GB" sz="800" dirty="0">
              <a:solidFill>
                <a:srgbClr val="023C65"/>
              </a:solidFill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GB" sz="800" dirty="0">
              <a:solidFill>
                <a:srgbClr val="023C65"/>
              </a:solidFill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r>
              <a:rPr lang="en-GB" sz="800" dirty="0">
                <a:solidFill>
                  <a:srgbClr val="023C65"/>
                </a:solidFill>
                <a:latin typeface="Helvetica" pitchFamily="2" charset="0"/>
              </a:rPr>
              <a:t> </a:t>
            </a: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US" sz="800" b="1" dirty="0">
              <a:solidFill>
                <a:srgbClr val="023C65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US" sz="800" b="1" dirty="0">
              <a:solidFill>
                <a:srgbClr val="023C65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US" sz="800" b="1" dirty="0">
              <a:solidFill>
                <a:srgbClr val="023C65"/>
              </a:solidFill>
              <a:highlight>
                <a:srgbClr val="FFFF00"/>
              </a:highlight>
              <a:latin typeface="Helvetica" pitchFamily="2" charset="0"/>
            </a:endParaRPr>
          </a:p>
          <a:p>
            <a:pPr defTabSz="414632">
              <a:spcAft>
                <a:spcPts val="800"/>
              </a:spcAft>
              <a:buClr>
                <a:srgbClr val="94B7BB"/>
              </a:buClr>
              <a:defRPr/>
            </a:pPr>
            <a:endParaRPr lang="en-US" sz="1100" b="1" dirty="0">
              <a:solidFill>
                <a:srgbClr val="023C65"/>
              </a:solidFill>
              <a:highlight>
                <a:srgbClr val="FFFF00"/>
              </a:highlight>
              <a:latin typeface="Helvetica" pitchFamily="2" charset="0"/>
            </a:endParaRPr>
          </a:p>
        </p:txBody>
      </p:sp>
      <p:pic>
        <p:nvPicPr>
          <p:cNvPr id="35" name="Graphic 34" descr="High voltage outline">
            <a:extLst>
              <a:ext uri="{FF2B5EF4-FFF2-40B4-BE49-F238E27FC236}">
                <a16:creationId xmlns:a16="http://schemas.microsoft.com/office/drawing/2014/main" id="{0EC0E1E2-665A-A7E6-8D22-5CA682C60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122093" y="4158580"/>
            <a:ext cx="487213" cy="487213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C4A2E1-9A79-B5BE-589F-9B7CA8148527}"/>
              </a:ext>
            </a:extLst>
          </p:cNvPr>
          <p:cNvSpPr/>
          <p:nvPr/>
        </p:nvSpPr>
        <p:spPr>
          <a:xfrm>
            <a:off x="832614" y="1372972"/>
            <a:ext cx="1951799" cy="251617"/>
          </a:xfrm>
          <a:prstGeom prst="roundRect">
            <a:avLst/>
          </a:prstGeom>
          <a:solidFill>
            <a:srgbClr val="659EC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r>
              <a:rPr lang="en-US" sz="1200" b="1" kern="0" dirty="0">
                <a:solidFill>
                  <a:srgbClr val="FFFFFF"/>
                </a:solidFill>
                <a:latin typeface="Helvetica" pitchFamily="2" charset="0"/>
              </a:rPr>
              <a:t>2025 Summary </a:t>
            </a:r>
          </a:p>
        </p:txBody>
      </p:sp>
      <p:pic>
        <p:nvPicPr>
          <p:cNvPr id="41" name="Graphic 40" descr="Statistics outline">
            <a:extLst>
              <a:ext uri="{FF2B5EF4-FFF2-40B4-BE49-F238E27FC236}">
                <a16:creationId xmlns:a16="http://schemas.microsoft.com/office/drawing/2014/main" id="{F1F9C2A4-FA3C-4062-3145-1357721997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6831" y="1883404"/>
            <a:ext cx="457200" cy="457200"/>
          </a:xfrm>
          <a:prstGeom prst="rect">
            <a:avLst/>
          </a:prstGeom>
        </p:spPr>
      </p:pic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C9DDCE3-F527-5CFA-FD42-D66D31EAE8C9}"/>
              </a:ext>
            </a:extLst>
          </p:cNvPr>
          <p:cNvSpPr/>
          <p:nvPr/>
        </p:nvSpPr>
        <p:spPr>
          <a:xfrm>
            <a:off x="3917375" y="1747998"/>
            <a:ext cx="2896959" cy="298525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23C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dirty="0">
                <a:solidFill>
                  <a:srgbClr val="023C65"/>
                </a:solidFill>
                <a:latin typeface="Helvetica" pitchFamily="2" charset="0"/>
              </a:rPr>
              <a:t>Energy use and associated  carbon - Impact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34AE92B-7F14-677C-7BB7-59FFC926E702}"/>
              </a:ext>
            </a:extLst>
          </p:cNvPr>
          <p:cNvSpPr/>
          <p:nvPr/>
        </p:nvSpPr>
        <p:spPr>
          <a:xfrm>
            <a:off x="3917375" y="2186944"/>
            <a:ext cx="2896959" cy="298526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23C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50" b="1" dirty="0">
                <a:solidFill>
                  <a:srgbClr val="023C65"/>
                </a:solidFill>
                <a:latin typeface="Helvetica" pitchFamily="2" charset="0"/>
              </a:rPr>
              <a:t>CSRD</a:t>
            </a:r>
            <a:r>
              <a:rPr lang="en-GB" sz="1050" dirty="0">
                <a:solidFill>
                  <a:srgbClr val="023C65"/>
                </a:solidFill>
                <a:latin typeface="Helvetica" pitchFamily="2" charset="0"/>
              </a:rPr>
              <a:t> Aligned Reporting</a:t>
            </a:r>
          </a:p>
        </p:txBody>
      </p:sp>
      <p:pic>
        <p:nvPicPr>
          <p:cNvPr id="49" name="Graphic 48" descr="Internet Banking outline">
            <a:extLst>
              <a:ext uri="{FF2B5EF4-FFF2-40B4-BE49-F238E27FC236}">
                <a16:creationId xmlns:a16="http://schemas.microsoft.com/office/drawing/2014/main" id="{666B7657-F058-A7B4-F995-9B6F237B0B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5418" y="1695520"/>
            <a:ext cx="387586" cy="387586"/>
          </a:xfrm>
          <a:prstGeom prst="rect">
            <a:avLst/>
          </a:prstGeom>
        </p:spPr>
      </p:pic>
      <p:pic>
        <p:nvPicPr>
          <p:cNvPr id="51" name="Graphic 50" descr="Magnifying glass outline">
            <a:extLst>
              <a:ext uri="{FF2B5EF4-FFF2-40B4-BE49-F238E27FC236}">
                <a16:creationId xmlns:a16="http://schemas.microsoft.com/office/drawing/2014/main" id="{EF0DA784-3CA0-9651-4F23-6DE1FF210E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73397" y="4752599"/>
            <a:ext cx="487213" cy="487213"/>
          </a:xfrm>
          <a:prstGeom prst="rect">
            <a:avLst/>
          </a:prstGeom>
        </p:spPr>
      </p:pic>
      <p:pic>
        <p:nvPicPr>
          <p:cNvPr id="53" name="Graphic 52" descr="Search Inventory outline">
            <a:extLst>
              <a:ext uri="{FF2B5EF4-FFF2-40B4-BE49-F238E27FC236}">
                <a16:creationId xmlns:a16="http://schemas.microsoft.com/office/drawing/2014/main" id="{789786C0-280B-83FD-676D-1974319255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01144" y="5322100"/>
            <a:ext cx="487213" cy="487213"/>
          </a:xfrm>
          <a:prstGeom prst="rect">
            <a:avLst/>
          </a:prstGeom>
        </p:spPr>
      </p:pic>
      <p:pic>
        <p:nvPicPr>
          <p:cNvPr id="8" name="Graphic 7" descr="Wind Turbines outline">
            <a:extLst>
              <a:ext uri="{FF2B5EF4-FFF2-40B4-BE49-F238E27FC236}">
                <a16:creationId xmlns:a16="http://schemas.microsoft.com/office/drawing/2014/main" id="{5ABBBDD9-D3D6-44E4-DB4D-B3AC5FC3225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56204" y="3067062"/>
            <a:ext cx="418990" cy="418990"/>
          </a:xfrm>
          <a:prstGeom prst="rect">
            <a:avLst/>
          </a:prstGeom>
        </p:spPr>
      </p:pic>
      <p:pic>
        <p:nvPicPr>
          <p:cNvPr id="14" name="Graphic 13" descr="Bullseye outline">
            <a:extLst>
              <a:ext uri="{FF2B5EF4-FFF2-40B4-BE49-F238E27FC236}">
                <a16:creationId xmlns:a16="http://schemas.microsoft.com/office/drawing/2014/main" id="{8903B085-77E1-6651-B67A-153853802BC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56204" y="3666869"/>
            <a:ext cx="459466" cy="459466"/>
          </a:xfrm>
          <a:prstGeom prst="rect">
            <a:avLst/>
          </a:prstGeom>
        </p:spPr>
      </p:pic>
      <p:pic>
        <p:nvPicPr>
          <p:cNvPr id="27" name="Picture 26" descr="A map of the world with orange dots&#10;&#10;AI-generated content may be incorrect.">
            <a:extLst>
              <a:ext uri="{FF2B5EF4-FFF2-40B4-BE49-F238E27FC236}">
                <a16:creationId xmlns:a16="http://schemas.microsoft.com/office/drawing/2014/main" id="{7C9BB79C-0EA9-95D8-A5A0-65F1564C8BF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759" y="-672163"/>
            <a:ext cx="3656746" cy="158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780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87F36-3D5C-922E-36A9-353AC0A68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11CD9B4-78A7-3CCC-167D-C4BDE96A8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859288"/>
              </p:ext>
            </p:extLst>
          </p:nvPr>
        </p:nvGraphicFramePr>
        <p:xfrm>
          <a:off x="2915696" y="2076834"/>
          <a:ext cx="6242592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2592">
                  <a:extLst>
                    <a:ext uri="{9D8B030D-6E8A-4147-A177-3AD203B41FA5}">
                      <a16:colId xmlns:a16="http://schemas.microsoft.com/office/drawing/2014/main" val="2430885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Portfolio Safety Performance</a:t>
                      </a:r>
                      <a:endParaRPr lang="en-GB" sz="2000" b="0">
                        <a:solidFill>
                          <a:srgbClr val="659ECA"/>
                        </a:solidFill>
                        <a:latin typeface="Helvetica" pitchFamily="2" charset="0"/>
                        <a:cs typeface="Gujarati MT" pitchFamily="2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50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0" kern="1200">
                          <a:solidFill>
                            <a:schemeClr val="bg1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Benchmarking</a:t>
                      </a:r>
                    </a:p>
                  </a:txBody>
                  <a:tcPr anchor="ctr">
                    <a:solidFill>
                      <a:srgbClr val="659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895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Data Limitations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31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Recommendations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6137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142BA7-5679-4045-0696-9D9538D2FF3C}"/>
              </a:ext>
            </a:extLst>
          </p:cNvPr>
          <p:cNvSpPr txBox="1"/>
          <p:nvPr/>
        </p:nvSpPr>
        <p:spPr>
          <a:xfrm>
            <a:off x="5931568" y="67497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441AF72-A3AE-F513-459A-FCDB417FDE3C}"/>
              </a:ext>
            </a:extLst>
          </p:cNvPr>
          <p:cNvSpPr txBox="1">
            <a:spLocks/>
          </p:cNvSpPr>
          <p:nvPr/>
        </p:nvSpPr>
        <p:spPr>
          <a:xfrm>
            <a:off x="713498" y="401765"/>
            <a:ext cx="10665703" cy="2189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 defTabSz="9905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950" b="0" i="0" kern="1200" cap="all" spc="457" baseline="0" noProof="0">
                <a:solidFill>
                  <a:schemeClr val="accent1"/>
                </a:solidFill>
                <a:latin typeface="FuturaTOTMed"/>
                <a:ea typeface="+mn-ea"/>
                <a:cs typeface="+mj-cs"/>
              </a:defRPr>
            </a:lvl1pPr>
          </a:lstStyle>
          <a:p>
            <a:pPr algn="l" defTabSz="990570"/>
            <a:r>
              <a:rPr lang="en-US" sz="1951">
                <a:solidFill>
                  <a:srgbClr val="659ECA"/>
                </a:solidFill>
                <a:latin typeface="Helvetica" pitchFamily="2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95210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B6C9-3F8E-3448-BF86-D8B0DBE3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FCDE06-B42B-715A-3CD4-2FB732F05A41}"/>
              </a:ext>
            </a:extLst>
          </p:cNvPr>
          <p:cNvSpPr/>
          <p:nvPr/>
        </p:nvSpPr>
        <p:spPr>
          <a:xfrm>
            <a:off x="6410957" y="1708234"/>
            <a:ext cx="4839103" cy="4462380"/>
          </a:xfrm>
          <a:prstGeom prst="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endParaRPr lang="en-US" sz="2400" kern="0">
              <a:solidFill>
                <a:srgbClr val="E13C32"/>
              </a:solidFill>
              <a:latin typeface="FuturaTOT"/>
            </a:endParaRP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E8911DBB-FABE-3F06-4DA9-61AB36BFF9E8}"/>
              </a:ext>
            </a:extLst>
          </p:cNvPr>
          <p:cNvSpPr txBox="1">
            <a:spLocks/>
          </p:cNvSpPr>
          <p:nvPr/>
        </p:nvSpPr>
        <p:spPr>
          <a:xfrm>
            <a:off x="623392" y="507301"/>
            <a:ext cx="10753725" cy="2189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 defTabSz="9905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950" b="0" i="0" kern="1200" cap="all" spc="457" baseline="0" noProof="0">
                <a:solidFill>
                  <a:schemeClr val="accent1"/>
                </a:solidFill>
                <a:latin typeface="FuturaTOTMed"/>
                <a:ea typeface="+mn-ea"/>
                <a:cs typeface="+mj-cs"/>
              </a:defRPr>
            </a:lvl1pPr>
          </a:lstStyle>
          <a:p>
            <a:pPr algn="l" defTabSz="990546">
              <a:defRPr/>
            </a:pPr>
            <a:r>
              <a:rPr lang="fr-FR" sz="1951" dirty="0">
                <a:solidFill>
                  <a:srgbClr val="023C65"/>
                </a:solidFill>
                <a:latin typeface="Helvetica" pitchFamily="2" charset="0"/>
              </a:rPr>
              <a:t>Cyrus Benchmark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A3E3C-74A8-7C1E-E502-AA3D12D800AE}"/>
              </a:ext>
            </a:extLst>
          </p:cNvPr>
          <p:cNvSpPr/>
          <p:nvPr/>
        </p:nvSpPr>
        <p:spPr>
          <a:xfrm rot="5400000">
            <a:off x="239565" y="572933"/>
            <a:ext cx="468000" cy="36000"/>
          </a:xfrm>
          <a:prstGeom prst="rect">
            <a:avLst/>
          </a:prstGeom>
          <a:solidFill>
            <a:srgbClr val="659E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fr-FR">
              <a:solidFill>
                <a:srgbClr val="659ECA"/>
              </a:solidFill>
              <a:latin typeface="FuturaTOT"/>
            </a:endParaRPr>
          </a:p>
        </p:txBody>
      </p:sp>
      <p:grpSp>
        <p:nvGrpSpPr>
          <p:cNvPr id="15" name="Groupe 7">
            <a:extLst>
              <a:ext uri="{FF2B5EF4-FFF2-40B4-BE49-F238E27FC236}">
                <a16:creationId xmlns:a16="http://schemas.microsoft.com/office/drawing/2014/main" id="{2C2F54DF-20AE-8A32-9808-1C8A6315940A}"/>
              </a:ext>
            </a:extLst>
          </p:cNvPr>
          <p:cNvGrpSpPr/>
          <p:nvPr/>
        </p:nvGrpSpPr>
        <p:grpSpPr>
          <a:xfrm>
            <a:off x="605487" y="1171890"/>
            <a:ext cx="5053633" cy="401494"/>
            <a:chOff x="304970" y="980425"/>
            <a:chExt cx="4070262" cy="49439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1AB264-A557-661A-9683-9DBF6E88538F}"/>
                </a:ext>
              </a:extLst>
            </p:cNvPr>
            <p:cNvSpPr/>
            <p:nvPr/>
          </p:nvSpPr>
          <p:spPr>
            <a:xfrm>
              <a:off x="304970" y="980425"/>
              <a:ext cx="1051560" cy="378612"/>
            </a:xfrm>
            <a:prstGeom prst="rect">
              <a:avLst/>
            </a:prstGeom>
            <a:solidFill>
              <a:srgbClr val="023C6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lnSpc>
                  <a:spcPct val="107000"/>
                </a:lnSpc>
                <a:spcAft>
                  <a:spcPts val="1067"/>
                </a:spcAft>
                <a:defRPr/>
              </a:pPr>
              <a:endParaRPr lang="en-US" sz="1867" kern="0">
                <a:solidFill>
                  <a:srgbClr val="323C46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008D28-3A48-5A5D-3DD8-D734EB7329BF}"/>
                </a:ext>
              </a:extLst>
            </p:cNvPr>
            <p:cNvSpPr/>
            <p:nvPr/>
          </p:nvSpPr>
          <p:spPr>
            <a:xfrm>
              <a:off x="341674" y="1014650"/>
              <a:ext cx="4033558" cy="460173"/>
            </a:xfrm>
            <a:prstGeom prst="rect">
              <a:avLst/>
            </a:prstGeom>
            <a:solidFill>
              <a:srgbClr val="EAF1F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lnSpc>
                  <a:spcPct val="107000"/>
                </a:lnSpc>
                <a:spcAft>
                  <a:spcPts val="1067"/>
                </a:spcAft>
                <a:defRPr/>
              </a:pPr>
              <a:r>
                <a:rPr lang="en-US" sz="1400" kern="0" dirty="0">
                  <a:solidFill>
                    <a:srgbClr val="323C46"/>
                  </a:solidFill>
                  <a:latin typeface="Helvetica" pitchFamily="2" charset="0"/>
                </a:rPr>
                <a:t>Other GIP Data Centre Assets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CCF01FE-8F4D-69E8-A54D-89CA65A20606}"/>
              </a:ext>
            </a:extLst>
          </p:cNvPr>
          <p:cNvSpPr/>
          <p:nvPr/>
        </p:nvSpPr>
        <p:spPr>
          <a:xfrm>
            <a:off x="10032917" y="1289792"/>
            <a:ext cx="1262328" cy="307466"/>
          </a:xfrm>
          <a:prstGeom prst="rect">
            <a:avLst/>
          </a:prstGeom>
          <a:solidFill>
            <a:srgbClr val="023C6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lnSpc>
                <a:spcPct val="107000"/>
              </a:lnSpc>
              <a:spcAft>
                <a:spcPts val="1067"/>
              </a:spcAft>
              <a:defRPr/>
            </a:pPr>
            <a:endParaRPr lang="en-US" sz="1867" kern="0">
              <a:solidFill>
                <a:srgbClr val="323C46"/>
              </a:solidFill>
              <a:latin typeface="FuturaTO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CDB8E8-1690-13AF-09F7-D32B59E63115}"/>
              </a:ext>
            </a:extLst>
          </p:cNvPr>
          <p:cNvSpPr/>
          <p:nvPr/>
        </p:nvSpPr>
        <p:spPr>
          <a:xfrm>
            <a:off x="6410960" y="1185787"/>
            <a:ext cx="4839103" cy="373700"/>
          </a:xfrm>
          <a:prstGeom prst="rect">
            <a:avLst/>
          </a:prstGeom>
          <a:solidFill>
            <a:srgbClr val="EAF1F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lnSpc>
                <a:spcPct val="107000"/>
              </a:lnSpc>
              <a:spcAft>
                <a:spcPts val="1067"/>
              </a:spcAft>
              <a:defRPr/>
            </a:pPr>
            <a:r>
              <a:rPr lang="en-US" sz="1400" kern="0" dirty="0">
                <a:solidFill>
                  <a:srgbClr val="323C46"/>
                </a:solidFill>
                <a:latin typeface="Helvetica" pitchFamily="2" charset="0"/>
              </a:rPr>
              <a:t>Key Insights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650BAD-12EE-7AA7-8433-BCF7128EEA2E}"/>
              </a:ext>
            </a:extLst>
          </p:cNvPr>
          <p:cNvSpPr txBox="1"/>
          <p:nvPr/>
        </p:nvSpPr>
        <p:spPr>
          <a:xfrm>
            <a:off x="6621422" y="1723243"/>
            <a:ext cx="46286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GB" sz="1200" b="0" i="0" u="none" strike="noStrike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algn="l">
              <a:buNone/>
            </a:pPr>
            <a:endParaRPr lang="en-GB" sz="1200" b="0" i="0" u="none" strike="noStrike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171450" indent="-171450" algn="l">
              <a:spcBef>
                <a:spcPts val="300"/>
              </a:spcBef>
              <a:spcAft>
                <a:spcPts val="600"/>
              </a:spcAft>
              <a:buClr>
                <a:srgbClr val="00FF19"/>
              </a:buClr>
              <a:buSzPct val="108000"/>
              <a:buFont typeface="System Font Regular"/>
              <a:buChar char="◆"/>
            </a:pPr>
            <a:r>
              <a:rPr lang="en-GB" sz="1200" b="0" i="0" u="none" strike="noStrike" dirty="0">
                <a:solidFill>
                  <a:srgbClr val="023C65"/>
                </a:solidFill>
                <a:effectLst/>
                <a:latin typeface="Helvetica" pitchFamily="2" charset="0"/>
              </a:rPr>
              <a:t>Majority of companies perform below OSHA benchmarks for LTIR (negative deltas) </a:t>
            </a:r>
          </a:p>
          <a:p>
            <a:pPr marL="171450" indent="-171450" algn="l">
              <a:spcBef>
                <a:spcPts val="300"/>
              </a:spcBef>
              <a:spcAft>
                <a:spcPts val="600"/>
              </a:spcAft>
              <a:buClr>
                <a:srgbClr val="00FF19"/>
              </a:buClr>
              <a:buSzPct val="108000"/>
              <a:buFont typeface="System Font Regular"/>
              <a:buChar char="◆"/>
            </a:pPr>
            <a:r>
              <a:rPr lang="en-GB" sz="1200" b="0" i="0" u="none" strike="noStrike" dirty="0">
                <a:solidFill>
                  <a:srgbClr val="023C65"/>
                </a:solidFill>
                <a:effectLst/>
                <a:latin typeface="Helvetica" pitchFamily="2" charset="0"/>
              </a:rPr>
              <a:t>TRIR shows mixed performance:</a:t>
            </a:r>
          </a:p>
          <a:p>
            <a:pPr marL="628650" lvl="1" indent="-171450">
              <a:spcBef>
                <a:spcPts val="300"/>
              </a:spcBef>
              <a:spcAft>
                <a:spcPts val="600"/>
              </a:spcAft>
              <a:buClr>
                <a:srgbClr val="00FF19"/>
              </a:buClr>
              <a:buSzPct val="108000"/>
              <a:buFont typeface="System Font Regular"/>
              <a:buChar char="◆"/>
            </a:pPr>
            <a:r>
              <a:rPr lang="en-GB" sz="1200" b="0" i="0" u="none" strike="noStrike" dirty="0">
                <a:solidFill>
                  <a:srgbClr val="023C65"/>
                </a:solidFill>
                <a:effectLst/>
                <a:latin typeface="Helvetica" pitchFamily="2" charset="0"/>
              </a:rPr>
              <a:t>Renewables and Transport Outperform</a:t>
            </a:r>
          </a:p>
          <a:p>
            <a:pPr marL="628650" lvl="1" indent="-171450">
              <a:spcBef>
                <a:spcPts val="300"/>
              </a:spcBef>
              <a:spcAft>
                <a:spcPts val="600"/>
              </a:spcAft>
              <a:buClr>
                <a:srgbClr val="00FF19"/>
              </a:buClr>
              <a:buSzPct val="108000"/>
              <a:buFont typeface="System Font Regular"/>
              <a:buChar char="◆"/>
            </a:pPr>
            <a:r>
              <a:rPr lang="en-GB" sz="1200" b="0" i="0" u="none" strike="noStrike" dirty="0">
                <a:solidFill>
                  <a:srgbClr val="023C65"/>
                </a:solidFill>
                <a:effectLst/>
                <a:latin typeface="Helvetica" pitchFamily="2" charset="0"/>
              </a:rPr>
              <a:t>Energy and </a:t>
            </a:r>
            <a:r>
              <a:rPr lang="en-GB" sz="1200" dirty="0">
                <a:solidFill>
                  <a:srgbClr val="023C65"/>
                </a:solidFill>
                <a:latin typeface="Helvetica" pitchFamily="2" charset="0"/>
              </a:rPr>
              <a:t>mix of other sectors </a:t>
            </a:r>
            <a:r>
              <a:rPr lang="en-GB" sz="1200" b="0" i="0" u="none" strike="noStrike" dirty="0">
                <a:solidFill>
                  <a:srgbClr val="023C65"/>
                </a:solidFill>
                <a:effectLst/>
                <a:latin typeface="Helvetica" pitchFamily="2" charset="0"/>
              </a:rPr>
              <a:t>often underperform</a:t>
            </a:r>
          </a:p>
          <a:p>
            <a:pPr marL="171450" indent="-171450" algn="l">
              <a:spcBef>
                <a:spcPts val="300"/>
              </a:spcBef>
              <a:spcAft>
                <a:spcPts val="600"/>
              </a:spcAft>
              <a:buClr>
                <a:srgbClr val="00FF19"/>
              </a:buClr>
              <a:buSzPct val="108000"/>
              <a:buFont typeface="System Font Regular"/>
              <a:buChar char="◆"/>
            </a:pPr>
            <a:r>
              <a:rPr lang="en-GB" sz="1200" b="0" i="0" u="none" strike="noStrike" dirty="0">
                <a:solidFill>
                  <a:srgbClr val="023C65"/>
                </a:solidFill>
                <a:effectLst/>
                <a:latin typeface="Helvetica" pitchFamily="2" charset="0"/>
              </a:rPr>
              <a:t>Some companies improved from 2023 → 2024 (deltas shrink)</a:t>
            </a:r>
          </a:p>
          <a:p>
            <a:pPr marL="171450" indent="-171450" algn="l">
              <a:spcBef>
                <a:spcPts val="300"/>
              </a:spcBef>
              <a:spcAft>
                <a:spcPts val="600"/>
              </a:spcAft>
              <a:buClr>
                <a:srgbClr val="00FF19"/>
              </a:buClr>
              <a:buSzPct val="108000"/>
              <a:buFont typeface="System Font Regular"/>
              <a:buChar char="◆"/>
            </a:pPr>
            <a:r>
              <a:rPr lang="en-GB" sz="1200" b="0" i="0" u="none" strike="noStrike" dirty="0">
                <a:solidFill>
                  <a:srgbClr val="023C65"/>
                </a:solidFill>
                <a:effectLst/>
                <a:latin typeface="Helvetica" pitchFamily="2" charset="0"/>
              </a:rPr>
              <a:t>Some worsened (deltas increased - e.g., Digital 1, Energy 2/5/8, Transport 2/8))</a:t>
            </a:r>
            <a:endParaRPr lang="en-GB" sz="1200" dirty="0">
              <a:solidFill>
                <a:srgbClr val="00007C"/>
              </a:solidFill>
              <a:latin typeface="Helvetica" pitchFamily="2" charset="0"/>
            </a:endParaRPr>
          </a:p>
          <a:p>
            <a:pPr marL="171450" indent="-171450" algn="l">
              <a:spcBef>
                <a:spcPts val="300"/>
              </a:spcBef>
              <a:buClr>
                <a:srgbClr val="00FF19"/>
              </a:buClr>
              <a:buSzPct val="108000"/>
              <a:buFont typeface="System Font Regular"/>
              <a:buChar char="◆"/>
            </a:pPr>
            <a:endParaRPr lang="en-GB" sz="1200" b="0" i="0" u="none" strike="noStrike" dirty="0">
              <a:solidFill>
                <a:srgbClr val="00007C"/>
              </a:solidFill>
              <a:effectLst/>
              <a:latin typeface="Helvetica" pitchFamily="2" charset="0"/>
            </a:endParaRPr>
          </a:p>
          <a:p>
            <a:pPr algn="l">
              <a:spcBef>
                <a:spcPts val="300"/>
              </a:spcBef>
              <a:buClr>
                <a:srgbClr val="00FF19"/>
              </a:buClr>
              <a:buSzPct val="108000"/>
            </a:pPr>
            <a:endParaRPr lang="en-GB" sz="1200" b="0" i="0" u="none" strike="noStrike" dirty="0">
              <a:solidFill>
                <a:srgbClr val="00007C"/>
              </a:solidFill>
              <a:effectLst/>
              <a:latin typeface="Helvetica" pitchFamily="2" charset="0"/>
            </a:endParaRPr>
          </a:p>
          <a:p>
            <a:pPr marL="171450" indent="-171450" algn="l">
              <a:spcBef>
                <a:spcPts val="300"/>
              </a:spcBef>
              <a:buClr>
                <a:srgbClr val="00FF19"/>
              </a:buClr>
              <a:buSzPct val="108000"/>
              <a:buFont typeface="System Font Regular"/>
              <a:buChar char="◆"/>
            </a:pPr>
            <a:endParaRPr lang="en-GB" sz="1200" b="0" i="0" u="none" strike="noStrike" dirty="0">
              <a:solidFill>
                <a:srgbClr val="023C65"/>
              </a:solidFill>
              <a:effectLst/>
              <a:latin typeface="Helvetica" pitchFamily="2" charset="0"/>
            </a:endParaRPr>
          </a:p>
          <a:p>
            <a:pPr marL="171450" indent="-171450" algn="l">
              <a:spcBef>
                <a:spcPts val="300"/>
              </a:spcBef>
              <a:buClr>
                <a:srgbClr val="00FF19"/>
              </a:buClr>
              <a:buSzPct val="108000"/>
              <a:buFont typeface="System Font Regular"/>
              <a:buChar char="◆"/>
            </a:pPr>
            <a:r>
              <a:rPr lang="en-GB" sz="1200" b="0" i="0" u="none" strike="noStrike" dirty="0">
                <a:solidFill>
                  <a:srgbClr val="023C65"/>
                </a:solidFill>
                <a:effectLst/>
                <a:latin typeface="Helvetica" pitchFamily="2" charset="0"/>
              </a:rPr>
              <a:t>Contractors drive a large share of recordables in Energy &amp; Transport</a:t>
            </a:r>
          </a:p>
          <a:p>
            <a:pPr marL="171450" indent="-171450" algn="l">
              <a:spcBef>
                <a:spcPts val="300"/>
              </a:spcBef>
              <a:buClr>
                <a:srgbClr val="00FF19"/>
              </a:buClr>
              <a:buSzPct val="108000"/>
              <a:buFont typeface="System Font Regular"/>
              <a:buChar char="◆"/>
            </a:pPr>
            <a:r>
              <a:rPr lang="en-GB" sz="1200" b="0" i="0" u="none" strike="noStrike" dirty="0">
                <a:solidFill>
                  <a:srgbClr val="023C65"/>
                </a:solidFill>
                <a:effectLst/>
                <a:latin typeface="Helvetica" pitchFamily="2" charset="0"/>
              </a:rPr>
              <a:t>Several companies have steady small recordables, suggesting possible under-reporting</a:t>
            </a:r>
          </a:p>
          <a:p>
            <a:pPr marL="171450" indent="-171450" algn="l">
              <a:spcBef>
                <a:spcPts val="300"/>
              </a:spcBef>
              <a:buClr>
                <a:srgbClr val="00FF19"/>
              </a:buClr>
              <a:buSzPct val="108000"/>
              <a:buFont typeface="System Font Regular"/>
              <a:buChar char="◆"/>
            </a:pPr>
            <a:r>
              <a:rPr lang="en-GB" sz="1200" b="0" i="0" u="none" strike="noStrike" dirty="0">
                <a:solidFill>
                  <a:srgbClr val="023C65"/>
                </a:solidFill>
                <a:effectLst/>
                <a:latin typeface="Helvetica" pitchFamily="2" charset="0"/>
              </a:rPr>
              <a:t>One company has #VALUE entries → data quality issue to follow up</a:t>
            </a:r>
            <a:endParaRPr lang="en-GB" sz="1200" dirty="0">
              <a:solidFill>
                <a:srgbClr val="023C65"/>
              </a:solidFill>
              <a:latin typeface="Helvetica" pitchFamily="2" charset="0"/>
            </a:endParaRPr>
          </a:p>
        </p:txBody>
      </p:sp>
      <p:pic>
        <p:nvPicPr>
          <p:cNvPr id="41" name="Graphic 40" descr="Bar graph with downward trend outline">
            <a:extLst>
              <a:ext uri="{FF2B5EF4-FFF2-40B4-BE49-F238E27FC236}">
                <a16:creationId xmlns:a16="http://schemas.microsoft.com/office/drawing/2014/main" id="{6F8ECC30-1E74-EC55-FA38-DE77850C7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3980" y="2475271"/>
            <a:ext cx="457200" cy="457200"/>
          </a:xfrm>
          <a:prstGeom prst="rect">
            <a:avLst/>
          </a:prstGeom>
        </p:spPr>
      </p:pic>
      <p:pic>
        <p:nvPicPr>
          <p:cNvPr id="43" name="Graphic 42" descr="Bar graph with upward trend outline">
            <a:extLst>
              <a:ext uri="{FF2B5EF4-FFF2-40B4-BE49-F238E27FC236}">
                <a16:creationId xmlns:a16="http://schemas.microsoft.com/office/drawing/2014/main" id="{3F91B5DB-D924-9143-6D50-29E227B9A2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3980" y="4452917"/>
            <a:ext cx="457201" cy="457201"/>
          </a:xfrm>
          <a:prstGeom prst="rect">
            <a:avLst/>
          </a:prstGeom>
        </p:spPr>
      </p:pic>
      <p:sp>
        <p:nvSpPr>
          <p:cNvPr id="4" name="Rectangle: Rounded Corners 38">
            <a:extLst>
              <a:ext uri="{FF2B5EF4-FFF2-40B4-BE49-F238E27FC236}">
                <a16:creationId xmlns:a16="http://schemas.microsoft.com/office/drawing/2014/main" id="{9651CD5E-FE80-1746-E95F-BDCE2C9216A4}"/>
              </a:ext>
            </a:extLst>
          </p:cNvPr>
          <p:cNvSpPr/>
          <p:nvPr/>
        </p:nvSpPr>
        <p:spPr>
          <a:xfrm>
            <a:off x="6487640" y="1774008"/>
            <a:ext cx="1884200" cy="279266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rgbClr val="659EC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r>
              <a:rPr lang="en-US" sz="1100" kern="0">
                <a:solidFill>
                  <a:srgbClr val="023C65"/>
                </a:solidFill>
                <a:latin typeface="Helvetica" pitchFamily="2" charset="0"/>
              </a:rPr>
              <a:t>Performance Overview </a:t>
            </a:r>
          </a:p>
        </p:txBody>
      </p:sp>
      <p:sp>
        <p:nvSpPr>
          <p:cNvPr id="6" name="Rectangle: Rounded Corners 38">
            <a:extLst>
              <a:ext uri="{FF2B5EF4-FFF2-40B4-BE49-F238E27FC236}">
                <a16:creationId xmlns:a16="http://schemas.microsoft.com/office/drawing/2014/main" id="{4B689166-1B48-41EF-8466-5CFDCAEB81FA}"/>
              </a:ext>
            </a:extLst>
          </p:cNvPr>
          <p:cNvSpPr/>
          <p:nvPr/>
        </p:nvSpPr>
        <p:spPr>
          <a:xfrm>
            <a:off x="6621422" y="4541884"/>
            <a:ext cx="1884200" cy="279266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rgbClr val="659EC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r>
              <a:rPr lang="en-US" sz="1100" kern="0">
                <a:solidFill>
                  <a:srgbClr val="023C65"/>
                </a:solidFill>
                <a:latin typeface="Helvetica" pitchFamily="2" charset="0"/>
              </a:rPr>
              <a:t>Risks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8D275-2397-CC5D-3A18-16519DEB94A3}"/>
              </a:ext>
            </a:extLst>
          </p:cNvPr>
          <p:cNvSpPr txBox="1"/>
          <p:nvPr/>
        </p:nvSpPr>
        <p:spPr>
          <a:xfrm>
            <a:off x="623392" y="1716622"/>
            <a:ext cx="5035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rgbClr val="659ECA"/>
                </a:solidFill>
                <a:latin typeface="Helvetica" pitchFamily="2" charset="0"/>
              </a:rPr>
              <a:t>B</a:t>
            </a:r>
            <a:r>
              <a:rPr lang="en-GB" sz="1200" b="0" i="0" u="none" strike="noStrike">
                <a:solidFill>
                  <a:srgbClr val="659ECA"/>
                </a:solidFill>
                <a:effectLst/>
                <a:latin typeface="Helvetica" pitchFamily="2" charset="0"/>
              </a:rPr>
              <a:t>enchmark total recordable injury rates against OSHA ‘Total recordable cases’ by NAICS code</a:t>
            </a:r>
            <a:endParaRPr lang="en-GB" sz="1200">
              <a:solidFill>
                <a:srgbClr val="659ECA"/>
              </a:solidFill>
              <a:latin typeface="Helvetica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1CFB16-216E-2DBC-8470-496B69749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465721"/>
              </p:ext>
            </p:extLst>
          </p:nvPr>
        </p:nvGraphicFramePr>
        <p:xfrm>
          <a:off x="670094" y="2277247"/>
          <a:ext cx="4989025" cy="3970312"/>
        </p:xfrm>
        <a:graphic>
          <a:graphicData uri="http://schemas.openxmlformats.org/drawingml/2006/table">
            <a:tbl>
              <a:tblPr/>
              <a:tblGrid>
                <a:gridCol w="997805">
                  <a:extLst>
                    <a:ext uri="{9D8B030D-6E8A-4147-A177-3AD203B41FA5}">
                      <a16:colId xmlns:a16="http://schemas.microsoft.com/office/drawing/2014/main" val="3347759573"/>
                    </a:ext>
                  </a:extLst>
                </a:gridCol>
                <a:gridCol w="997805">
                  <a:extLst>
                    <a:ext uri="{9D8B030D-6E8A-4147-A177-3AD203B41FA5}">
                      <a16:colId xmlns:a16="http://schemas.microsoft.com/office/drawing/2014/main" val="3524559823"/>
                    </a:ext>
                  </a:extLst>
                </a:gridCol>
                <a:gridCol w="997805">
                  <a:extLst>
                    <a:ext uri="{9D8B030D-6E8A-4147-A177-3AD203B41FA5}">
                      <a16:colId xmlns:a16="http://schemas.microsoft.com/office/drawing/2014/main" val="4155976482"/>
                    </a:ext>
                  </a:extLst>
                </a:gridCol>
                <a:gridCol w="997805">
                  <a:extLst>
                    <a:ext uri="{9D8B030D-6E8A-4147-A177-3AD203B41FA5}">
                      <a16:colId xmlns:a16="http://schemas.microsoft.com/office/drawing/2014/main" val="3484290861"/>
                    </a:ext>
                  </a:extLst>
                </a:gridCol>
                <a:gridCol w="997805">
                  <a:extLst>
                    <a:ext uri="{9D8B030D-6E8A-4147-A177-3AD203B41FA5}">
                      <a16:colId xmlns:a16="http://schemas.microsoft.com/office/drawing/2014/main" val="2441199371"/>
                    </a:ext>
                  </a:extLst>
                </a:gridCol>
              </a:tblGrid>
              <a:tr h="4570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Company</a:t>
                      </a:r>
                    </a:p>
                  </a:txBody>
                  <a:tcPr marL="7826" marR="7826" marT="7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OSHA 2023 vs TRIR 2023 vs </a:t>
                      </a:r>
                    </a:p>
                  </a:txBody>
                  <a:tcPr marL="7826" marR="7826" marT="7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OSHA 2023 - TRIR 2024</a:t>
                      </a:r>
                    </a:p>
                  </a:txBody>
                  <a:tcPr marL="7826" marR="7826" marT="7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OSHA vs LTIR 2023</a:t>
                      </a:r>
                    </a:p>
                  </a:txBody>
                  <a:tcPr marL="7826" marR="7826" marT="7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OSHA vs LTIR 2024</a:t>
                      </a:r>
                    </a:p>
                  </a:txBody>
                  <a:tcPr marL="7826" marR="7826" marT="7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85200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Digital 1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0.35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0.93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-0.26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0.00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65778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Digital 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-0.55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-0.40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-0.59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0.15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167265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Digital 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165570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Energy 1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893130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Energy 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0.81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1.70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0.40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0.60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3952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Energy 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-1.34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-2.32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-1.08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-1.55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381605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Energy 4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0.96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-0.45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-0.34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0.24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860211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Energy 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1.70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1.70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0.40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0.60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83736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Energy 6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81595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Energy 7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-0.65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-1.12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0.40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-0.46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16009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Energy 8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1.70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1.12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0.40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0.13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56888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Renewables 1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-1.94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-0.25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-1.36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-0.70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487824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Renewables 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-3.69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-2.01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-2.49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-1.52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562517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Renewables 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-2.36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-4.62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-1.02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-3.61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182495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Renewables 4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0.87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0.19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0.22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-0.15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359408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Transport 1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1.98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-0.46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0.56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-0.83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206671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Transport 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2.50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2.39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0.56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0.27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041753"/>
                  </a:ext>
                </a:extLst>
              </a:tr>
              <a:tr h="2285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Transport 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707080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Transport 4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-4.90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-4.13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-1.07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-2.58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111223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Transport 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-2.39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0.07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-2.03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-1.19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945284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Transport 6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-1.81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-2.82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-2.34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-1.32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482142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Transport 7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896067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Transport 8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-1.10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1.05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6100"/>
                          </a:solidFill>
                          <a:effectLst/>
                          <a:latin typeface="BLK Fort"/>
                        </a:rPr>
                        <a:t>-1.03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9C0006"/>
                          </a:solidFill>
                          <a:effectLst/>
                          <a:latin typeface="BLK Fort"/>
                        </a:rPr>
                        <a:t>0.93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621770"/>
                  </a:ext>
                </a:extLst>
              </a:tr>
              <a:tr h="1428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FAFAFA"/>
                          </a:solidFill>
                          <a:effectLst/>
                          <a:latin typeface="BLK Fort"/>
                        </a:rPr>
                        <a:t>Transport 9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F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BLK Fort"/>
                        </a:rPr>
                        <a:t>N/A</a:t>
                      </a:r>
                    </a:p>
                  </a:txBody>
                  <a:tcPr marL="7826" marR="7826" marT="7826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96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974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E066-BFC4-F3AC-0EF5-D2972E33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8A1D951-E2B8-5E28-DC16-8D87B82D76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124453"/>
              </p:ext>
            </p:extLst>
          </p:nvPr>
        </p:nvGraphicFramePr>
        <p:xfrm>
          <a:off x="2915696" y="2076834"/>
          <a:ext cx="6242592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2592">
                  <a:extLst>
                    <a:ext uri="{9D8B030D-6E8A-4147-A177-3AD203B41FA5}">
                      <a16:colId xmlns:a16="http://schemas.microsoft.com/office/drawing/2014/main" val="2430885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Portfolio Safety Performance</a:t>
                      </a:r>
                      <a:endParaRPr lang="en-GB" sz="2000" b="0">
                        <a:solidFill>
                          <a:srgbClr val="659ECA"/>
                        </a:solidFill>
                        <a:latin typeface="Helvetica" pitchFamily="2" charset="0"/>
                        <a:cs typeface="Gujarati MT" pitchFamily="2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50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Benchmarking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895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kern="1200">
                          <a:solidFill>
                            <a:schemeClr val="bg1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Data Limitations</a:t>
                      </a:r>
                    </a:p>
                  </a:txBody>
                  <a:tcPr anchor="ctr">
                    <a:solidFill>
                      <a:srgbClr val="659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31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Recommendations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6137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23FB13-FBE5-2806-445C-543C9E07C407}"/>
              </a:ext>
            </a:extLst>
          </p:cNvPr>
          <p:cNvSpPr txBox="1"/>
          <p:nvPr/>
        </p:nvSpPr>
        <p:spPr>
          <a:xfrm>
            <a:off x="5931568" y="67497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FB7AA62-42BB-DA97-3A50-6B3B3AC42682}"/>
              </a:ext>
            </a:extLst>
          </p:cNvPr>
          <p:cNvSpPr txBox="1">
            <a:spLocks/>
          </p:cNvSpPr>
          <p:nvPr/>
        </p:nvSpPr>
        <p:spPr>
          <a:xfrm>
            <a:off x="713498" y="401765"/>
            <a:ext cx="10665703" cy="2189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 defTabSz="9905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950" b="0" i="0" kern="1200" cap="all" spc="457" baseline="0" noProof="0">
                <a:solidFill>
                  <a:schemeClr val="accent1"/>
                </a:solidFill>
                <a:latin typeface="FuturaTOTMed"/>
                <a:ea typeface="+mn-ea"/>
                <a:cs typeface="+mj-cs"/>
              </a:defRPr>
            </a:lvl1pPr>
          </a:lstStyle>
          <a:p>
            <a:pPr algn="l" defTabSz="990570"/>
            <a:r>
              <a:rPr lang="en-US" sz="1951">
                <a:solidFill>
                  <a:srgbClr val="659ECA"/>
                </a:solidFill>
                <a:latin typeface="Helvetica" pitchFamily="2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83293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4B56-2170-0C9E-7C03-336536BD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3">
            <a:extLst>
              <a:ext uri="{FF2B5EF4-FFF2-40B4-BE49-F238E27FC236}">
                <a16:creationId xmlns:a16="http://schemas.microsoft.com/office/drawing/2014/main" id="{35D0D175-F339-B8DA-27CB-BAE343D74EE0}"/>
              </a:ext>
            </a:extLst>
          </p:cNvPr>
          <p:cNvSpPr txBox="1">
            <a:spLocks/>
          </p:cNvSpPr>
          <p:nvPr/>
        </p:nvSpPr>
        <p:spPr>
          <a:xfrm>
            <a:off x="623392" y="507301"/>
            <a:ext cx="10753725" cy="2189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 defTabSz="9905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950" b="0" i="0" kern="1200" cap="all" spc="457" baseline="0" noProof="0">
                <a:solidFill>
                  <a:schemeClr val="accent1"/>
                </a:solidFill>
                <a:latin typeface="FuturaTOTMed"/>
                <a:ea typeface="+mn-ea"/>
                <a:cs typeface="+mj-cs"/>
              </a:defRPr>
            </a:lvl1pPr>
          </a:lstStyle>
          <a:p>
            <a:pPr algn="l" defTabSz="990546">
              <a:defRPr/>
            </a:pPr>
            <a:r>
              <a:rPr lang="fr-FR" sz="2000" dirty="0">
                <a:solidFill>
                  <a:srgbClr val="023C65"/>
                </a:solidFill>
                <a:latin typeface="Helvetica" pitchFamily="2" charset="0"/>
              </a:rPr>
              <a:t>Data &amp; </a:t>
            </a:r>
            <a:r>
              <a:rPr lang="fr-FR" sz="2000" dirty="0" err="1">
                <a:solidFill>
                  <a:srgbClr val="023C65"/>
                </a:solidFill>
                <a:latin typeface="Helvetica" pitchFamily="2" charset="0"/>
              </a:rPr>
              <a:t>reporting</a:t>
            </a:r>
            <a:r>
              <a:rPr lang="fr-FR" sz="2000" dirty="0">
                <a:solidFill>
                  <a:srgbClr val="023C65"/>
                </a:solidFill>
                <a:latin typeface="Helvetica" pitchFamily="2" charset="0"/>
              </a:rPr>
              <a:t> Limitations</a:t>
            </a:r>
            <a:endParaRPr lang="en-US" sz="2000" dirty="0">
              <a:solidFill>
                <a:srgbClr val="023C65"/>
              </a:solidFill>
              <a:latin typeface="Helvetica" pitchFamily="2" charset="0"/>
            </a:endParaRPr>
          </a:p>
          <a:p>
            <a:pPr algn="l" defTabSz="990546">
              <a:defRPr/>
            </a:pPr>
            <a:endParaRPr lang="fr-FR" sz="2000" cap="none" dirty="0">
              <a:solidFill>
                <a:srgbClr val="023C65"/>
              </a:solidFill>
              <a:latin typeface="Helvetica" pitchFamily="2" charset="0"/>
            </a:endParaRPr>
          </a:p>
          <a:p>
            <a:pPr algn="l" defTabSz="990546">
              <a:defRPr/>
            </a:pPr>
            <a:endParaRPr lang="fr-FR" sz="2000" dirty="0">
              <a:solidFill>
                <a:srgbClr val="023C65"/>
              </a:solidFill>
              <a:latin typeface="Helvetica" pitchFamily="2" charset="0"/>
            </a:endParaRPr>
          </a:p>
          <a:p>
            <a:pPr algn="l" defTabSz="990546">
              <a:defRPr/>
            </a:pPr>
            <a:r>
              <a:rPr lang="fr-FR" sz="2000" cap="none" dirty="0">
                <a:solidFill>
                  <a:srgbClr val="023C65"/>
                </a:solidFill>
                <a:latin typeface="Helvetica" pitchFamily="2" charset="0"/>
              </a:rPr>
              <a:t> </a:t>
            </a:r>
            <a:endParaRPr lang="fr-FR" sz="2000" dirty="0">
              <a:solidFill>
                <a:srgbClr val="023C65"/>
              </a:solidFill>
              <a:latin typeface="Helvetica" pitchFamily="2" charset="0"/>
            </a:endParaRPr>
          </a:p>
          <a:p>
            <a:pPr algn="l" defTabSz="990546">
              <a:defRPr/>
            </a:pPr>
            <a:endParaRPr lang="fr-FR" sz="2000" dirty="0">
              <a:solidFill>
                <a:srgbClr val="023C65"/>
              </a:solidFill>
              <a:latin typeface="Helvetica" pitchFamily="2" charset="0"/>
            </a:endParaRPr>
          </a:p>
          <a:p>
            <a:pPr algn="l" defTabSz="990546">
              <a:defRPr/>
            </a:pPr>
            <a:endParaRPr lang="en-US" sz="2000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EF3C15-0469-045B-51BF-C36579017CB4}"/>
              </a:ext>
            </a:extLst>
          </p:cNvPr>
          <p:cNvSpPr/>
          <p:nvPr/>
        </p:nvSpPr>
        <p:spPr>
          <a:xfrm rot="5400000">
            <a:off x="239565" y="572933"/>
            <a:ext cx="468000" cy="36000"/>
          </a:xfrm>
          <a:prstGeom prst="rect">
            <a:avLst/>
          </a:prstGeom>
          <a:solidFill>
            <a:srgbClr val="659E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fr-FR">
              <a:solidFill>
                <a:prstClr val="white"/>
              </a:solidFill>
              <a:highlight>
                <a:srgbClr val="017180"/>
              </a:highlight>
              <a:latin typeface="FuturaTO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4C20D7-3B43-F264-E5E7-F1C15D3C83C3}"/>
              </a:ext>
            </a:extLst>
          </p:cNvPr>
          <p:cNvSpPr/>
          <p:nvPr/>
        </p:nvSpPr>
        <p:spPr>
          <a:xfrm>
            <a:off x="751045" y="4993277"/>
            <a:ext cx="3404448" cy="76800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48000" tIns="48000" rIns="48000" bIns="48000" rtlCol="0" anchor="t"/>
          <a:lstStyle/>
          <a:p>
            <a:pPr defTabSz="1219170">
              <a:defRPr/>
            </a:pPr>
            <a:endParaRPr lang="en-US" sz="1333" kern="0">
              <a:solidFill>
                <a:srgbClr val="323C46"/>
              </a:solidFill>
              <a:latin typeface="FuturaTO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47EBD9-B066-69E9-9139-70CE209B7CBE}"/>
              </a:ext>
            </a:extLst>
          </p:cNvPr>
          <p:cNvGrpSpPr/>
          <p:nvPr/>
        </p:nvGrpSpPr>
        <p:grpSpPr>
          <a:xfrm>
            <a:off x="623392" y="1849656"/>
            <a:ext cx="7844747" cy="3709771"/>
            <a:chOff x="3222602" y="1428286"/>
            <a:chExt cx="6740630" cy="3709771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54DDA864-D715-EC1D-8ED6-C49D238F3D14}"/>
                </a:ext>
              </a:extLst>
            </p:cNvPr>
            <p:cNvSpPr/>
            <p:nvPr/>
          </p:nvSpPr>
          <p:spPr>
            <a:xfrm>
              <a:off x="3222602" y="1428286"/>
              <a:ext cx="6740630" cy="3709771"/>
            </a:xfrm>
            <a:prstGeom prst="roundRect">
              <a:avLst/>
            </a:prstGeom>
            <a:solidFill>
              <a:srgbClr val="F7F7F7">
                <a:alpha val="49412"/>
              </a:srgbClr>
            </a:solidFill>
            <a:ln w="9525">
              <a:solidFill>
                <a:srgbClr val="659E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996B52C-0B46-CDF8-6856-B3CFD8DEF3CB}"/>
                </a:ext>
              </a:extLst>
            </p:cNvPr>
            <p:cNvSpPr/>
            <p:nvPr/>
          </p:nvSpPr>
          <p:spPr>
            <a:xfrm>
              <a:off x="3866853" y="1597908"/>
              <a:ext cx="5189275" cy="354014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48000" tIns="48000" rIns="48000" bIns="48000" rtlCol="0" anchor="ctr"/>
            <a:lstStyle/>
            <a:p>
              <a:r>
                <a:rPr lang="en-GB" sz="1200" b="1" dirty="0">
                  <a:solidFill>
                    <a:srgbClr val="023C65"/>
                  </a:solidFill>
                  <a:latin typeface="Helvetica" pitchFamily="2" charset="0"/>
                </a:rPr>
                <a:t>The LTIR data rate is compared to the OHSA benchmark data for “Cases with days away from work”</a:t>
              </a:r>
            </a:p>
            <a:p>
              <a:endParaRPr lang="en-GB" sz="1200" b="1" dirty="0">
                <a:solidFill>
                  <a:srgbClr val="023C65"/>
                </a:solidFill>
                <a:latin typeface="Helvetica" pitchFamily="2" charset="0"/>
              </a:endParaRPr>
            </a:p>
            <a:p>
              <a:endParaRPr lang="en-GB" sz="1200" b="1" dirty="0">
                <a:solidFill>
                  <a:srgbClr val="023C65"/>
                </a:solidFill>
                <a:latin typeface="Helvetica" pitchFamily="2" charset="0"/>
              </a:endParaRPr>
            </a:p>
            <a:p>
              <a:r>
                <a:rPr lang="en-GB" sz="1200" b="1" dirty="0">
                  <a:solidFill>
                    <a:srgbClr val="023C65"/>
                  </a:solidFill>
                  <a:latin typeface="Helvetica" pitchFamily="2" charset="0"/>
                </a:rPr>
                <a:t>Potential Under-Reporting</a:t>
              </a:r>
            </a:p>
            <a:p>
              <a:endParaRPr lang="en-GB" sz="1200" b="1" dirty="0">
                <a:solidFill>
                  <a:srgbClr val="023C65"/>
                </a:solidFill>
                <a:latin typeface="Helvetica" pitchFamily="2" charset="0"/>
              </a:endParaRPr>
            </a:p>
            <a:p>
              <a:endParaRPr lang="en-GB" sz="1200" b="1" dirty="0">
                <a:solidFill>
                  <a:srgbClr val="023C65"/>
                </a:solidFill>
                <a:latin typeface="Helvetica" pitchFamily="2" charset="0"/>
              </a:endParaRPr>
            </a:p>
            <a:p>
              <a:r>
                <a:rPr lang="en-GB" sz="1200" b="1" dirty="0">
                  <a:solidFill>
                    <a:srgbClr val="023C65"/>
                  </a:solidFill>
                  <a:latin typeface="Helvetica" pitchFamily="2" charset="0"/>
                </a:rPr>
                <a:t>OSHA</a:t>
              </a:r>
              <a:r>
                <a:rPr lang="en-GB" sz="1200" b="1" dirty="0"/>
                <a:t> </a:t>
              </a:r>
              <a:r>
                <a:rPr lang="en-GB" sz="1200" b="1" dirty="0">
                  <a:solidFill>
                    <a:srgbClr val="023C65"/>
                  </a:solidFill>
                  <a:latin typeface="Helvetica" pitchFamily="2" charset="0"/>
                </a:rPr>
                <a:t>sectors aren’t perfect matches</a:t>
              </a:r>
            </a:p>
            <a:p>
              <a:endParaRPr lang="en-GB" sz="1200" b="1" dirty="0">
                <a:latin typeface="Helvetica" pitchFamily="2" charset="0"/>
              </a:endParaRPr>
            </a:p>
            <a:p>
              <a:endParaRPr lang="en-GB" sz="1200" b="1" dirty="0">
                <a:latin typeface="Helvetica" pitchFamily="2" charset="0"/>
              </a:endParaRPr>
            </a:p>
            <a:p>
              <a:pPr defTabSz="414632">
                <a:buClr>
                  <a:srgbClr val="94B7BB"/>
                </a:buClr>
                <a:defRPr/>
              </a:pPr>
              <a:r>
                <a:rPr lang="en-US" sz="1200" b="1" dirty="0">
                  <a:solidFill>
                    <a:srgbClr val="023C65"/>
                  </a:solidFill>
                  <a:latin typeface="Helvetica" pitchFamily="2" charset="0"/>
                </a:rPr>
                <a:t>Lack of data from certain companies reduces the reliability of findings</a:t>
              </a:r>
            </a:p>
            <a:p>
              <a:pPr defTabSz="414632">
                <a:buClr>
                  <a:srgbClr val="94B7BB"/>
                </a:buClr>
                <a:defRPr/>
              </a:pPr>
              <a:endParaRPr lang="en-US" sz="1200" b="1" dirty="0">
                <a:solidFill>
                  <a:srgbClr val="023C65"/>
                </a:solidFill>
                <a:latin typeface="Helvetica" pitchFamily="2" charset="0"/>
              </a:endParaRPr>
            </a:p>
            <a:p>
              <a:pPr defTabSz="414632">
                <a:buClr>
                  <a:srgbClr val="94B7BB"/>
                </a:buClr>
                <a:defRPr/>
              </a:pPr>
              <a:endParaRPr lang="en-US" sz="1200" b="1" dirty="0">
                <a:solidFill>
                  <a:srgbClr val="023C65"/>
                </a:solidFill>
                <a:latin typeface="Helvetica" pitchFamily="2" charset="0"/>
              </a:endParaRPr>
            </a:p>
            <a:p>
              <a:pPr defTabSz="414632">
                <a:buClr>
                  <a:srgbClr val="94B7BB"/>
                </a:buClr>
                <a:defRPr/>
              </a:pPr>
              <a:r>
                <a:rPr lang="en-US" sz="1200" b="1" dirty="0">
                  <a:solidFill>
                    <a:srgbClr val="023C65"/>
                  </a:solidFill>
                  <a:latin typeface="Helvetica" pitchFamily="2" charset="0"/>
                </a:rPr>
                <a:t>No financial data to give an impact on the portfolio (Weighting Analysis) 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DC8CC7F-928D-292F-36A7-1B19A4BA4B28}"/>
              </a:ext>
            </a:extLst>
          </p:cNvPr>
          <p:cNvSpPr/>
          <p:nvPr/>
        </p:nvSpPr>
        <p:spPr>
          <a:xfrm>
            <a:off x="697342" y="1140432"/>
            <a:ext cx="5922348" cy="32582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r>
              <a:rPr lang="en-US" sz="1200" b="1" kern="0" dirty="0">
                <a:solidFill>
                  <a:srgbClr val="023C65"/>
                </a:solidFill>
                <a:latin typeface="Helvetica" pitchFamily="2" charset="0"/>
              </a:rPr>
              <a:t>OSHA Benchmark Data</a:t>
            </a:r>
          </a:p>
        </p:txBody>
      </p:sp>
      <p:cxnSp>
        <p:nvCxnSpPr>
          <p:cNvPr id="15" name="Connecteur droit 80">
            <a:extLst>
              <a:ext uri="{FF2B5EF4-FFF2-40B4-BE49-F238E27FC236}">
                <a16:creationId xmlns:a16="http://schemas.microsoft.com/office/drawing/2014/main" id="{330984A6-AB12-02C5-A4AC-68B3706CC457}"/>
              </a:ext>
            </a:extLst>
          </p:cNvPr>
          <p:cNvCxnSpPr>
            <a:cxnSpLocks/>
          </p:cNvCxnSpPr>
          <p:nvPr/>
        </p:nvCxnSpPr>
        <p:spPr>
          <a:xfrm>
            <a:off x="697342" y="1474966"/>
            <a:ext cx="4454495" cy="0"/>
          </a:xfrm>
          <a:prstGeom prst="line">
            <a:avLst/>
          </a:prstGeom>
          <a:noFill/>
          <a:ln w="6350" cap="flat" cmpd="sng" algn="ctr">
            <a:solidFill>
              <a:srgbClr val="023C65"/>
            </a:solidFill>
            <a:prstDash val="solid"/>
            <a:miter lim="800000"/>
          </a:ln>
          <a:effectLst/>
        </p:spPr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14532CB-1B31-EE86-96D3-574594ED427B}"/>
              </a:ext>
            </a:extLst>
          </p:cNvPr>
          <p:cNvSpPr/>
          <p:nvPr/>
        </p:nvSpPr>
        <p:spPr>
          <a:xfrm>
            <a:off x="961977" y="1784050"/>
            <a:ext cx="2119673" cy="253916"/>
          </a:xfrm>
          <a:prstGeom prst="roundRect">
            <a:avLst/>
          </a:prstGeom>
          <a:solidFill>
            <a:srgbClr val="659E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b="1">
                <a:solidFill>
                  <a:schemeClr val="bg1"/>
                </a:solidFill>
                <a:latin typeface="Helvetica" pitchFamily="2" charset="0"/>
              </a:rPr>
              <a:t>OSHA Data Limitations Highlights</a:t>
            </a:r>
          </a:p>
        </p:txBody>
      </p:sp>
      <p:pic>
        <p:nvPicPr>
          <p:cNvPr id="22" name="Graphic 21" descr="Zoom in outline">
            <a:extLst>
              <a:ext uri="{FF2B5EF4-FFF2-40B4-BE49-F238E27FC236}">
                <a16:creationId xmlns:a16="http://schemas.microsoft.com/office/drawing/2014/main" id="{5A5D1C53-5469-8053-D4FA-6D5587B77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08314" y="4990941"/>
            <a:ext cx="307327" cy="307327"/>
          </a:xfrm>
          <a:prstGeom prst="rect">
            <a:avLst/>
          </a:prstGeom>
        </p:spPr>
      </p:pic>
      <p:pic>
        <p:nvPicPr>
          <p:cNvPr id="3" name="Graphic 2" descr="Target outline">
            <a:extLst>
              <a:ext uri="{FF2B5EF4-FFF2-40B4-BE49-F238E27FC236}">
                <a16:creationId xmlns:a16="http://schemas.microsoft.com/office/drawing/2014/main" id="{BCD6C97D-8349-D89A-2511-9556FDCB85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818" y="4393650"/>
            <a:ext cx="408319" cy="408319"/>
          </a:xfrm>
          <a:prstGeom prst="rect">
            <a:avLst/>
          </a:prstGeom>
        </p:spPr>
      </p:pic>
      <p:pic>
        <p:nvPicPr>
          <p:cNvPr id="5" name="Graphic 4" descr="Clipboard All Crosses outline">
            <a:extLst>
              <a:ext uri="{FF2B5EF4-FFF2-40B4-BE49-F238E27FC236}">
                <a16:creationId xmlns:a16="http://schemas.microsoft.com/office/drawing/2014/main" id="{5159A5F5-91FB-58B4-AAA4-78613D5BF6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0924" y="3119775"/>
            <a:ext cx="362106" cy="362106"/>
          </a:xfrm>
          <a:prstGeom prst="rect">
            <a:avLst/>
          </a:prstGeom>
        </p:spPr>
      </p:pic>
      <p:pic>
        <p:nvPicPr>
          <p:cNvPr id="8" name="Graphic 7" descr="Priorities outline">
            <a:extLst>
              <a:ext uri="{FF2B5EF4-FFF2-40B4-BE49-F238E27FC236}">
                <a16:creationId xmlns:a16="http://schemas.microsoft.com/office/drawing/2014/main" id="{0F02E0DA-7ADD-A94C-35D3-A559619540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4229" y="3759359"/>
            <a:ext cx="435497" cy="435497"/>
          </a:xfrm>
          <a:prstGeom prst="rect">
            <a:avLst/>
          </a:prstGeom>
        </p:spPr>
      </p:pic>
      <p:pic>
        <p:nvPicPr>
          <p:cNvPr id="24" name="Graphic 23" descr="Badge Cross outline">
            <a:extLst>
              <a:ext uri="{FF2B5EF4-FFF2-40B4-BE49-F238E27FC236}">
                <a16:creationId xmlns:a16="http://schemas.microsoft.com/office/drawing/2014/main" id="{21E3FD45-F386-9B8E-0491-94F3FE1EDC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9694" y="2568846"/>
            <a:ext cx="344567" cy="34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0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A87C5-5D3C-49C3-417A-45A772739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B4A7371-5D17-A357-90E8-A7283B4C2A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8015141"/>
              </p:ext>
            </p:extLst>
          </p:nvPr>
        </p:nvGraphicFramePr>
        <p:xfrm>
          <a:off x="2915696" y="2076834"/>
          <a:ext cx="6242592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2592">
                  <a:extLst>
                    <a:ext uri="{9D8B030D-6E8A-4147-A177-3AD203B41FA5}">
                      <a16:colId xmlns:a16="http://schemas.microsoft.com/office/drawing/2014/main" val="2430885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Portfolio Safety Performance</a:t>
                      </a:r>
                      <a:endParaRPr lang="en-GB" sz="2000" b="0">
                        <a:solidFill>
                          <a:srgbClr val="659ECA"/>
                        </a:solidFill>
                        <a:latin typeface="Helvetica" pitchFamily="2" charset="0"/>
                        <a:cs typeface="Gujarati MT" pitchFamily="2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50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0" kern="120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Benchmarking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895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kern="1200" dirty="0">
                          <a:solidFill>
                            <a:srgbClr val="659ECA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Data Limitations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31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0" kern="1200" dirty="0">
                          <a:solidFill>
                            <a:schemeClr val="bg1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Recommendations</a:t>
                      </a:r>
                    </a:p>
                  </a:txBody>
                  <a:tcPr anchor="ctr">
                    <a:solidFill>
                      <a:srgbClr val="659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6137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F140FC-0082-2471-7E26-5EE87744B0A1}"/>
              </a:ext>
            </a:extLst>
          </p:cNvPr>
          <p:cNvSpPr txBox="1"/>
          <p:nvPr/>
        </p:nvSpPr>
        <p:spPr>
          <a:xfrm>
            <a:off x="5931568" y="67497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5C0D9DC-197F-4F4E-9890-0E48B1D0BFDF}"/>
              </a:ext>
            </a:extLst>
          </p:cNvPr>
          <p:cNvSpPr txBox="1">
            <a:spLocks/>
          </p:cNvSpPr>
          <p:nvPr/>
        </p:nvSpPr>
        <p:spPr>
          <a:xfrm>
            <a:off x="713498" y="401765"/>
            <a:ext cx="10665703" cy="2189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 defTabSz="9905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950" b="0" i="0" kern="1200" cap="all" spc="457" baseline="0" noProof="0">
                <a:solidFill>
                  <a:schemeClr val="accent1"/>
                </a:solidFill>
                <a:latin typeface="FuturaTOTMed"/>
                <a:ea typeface="+mn-ea"/>
                <a:cs typeface="+mj-cs"/>
              </a:defRPr>
            </a:lvl1pPr>
          </a:lstStyle>
          <a:p>
            <a:pPr algn="l" defTabSz="990570"/>
            <a:r>
              <a:rPr lang="en-US" sz="1951">
                <a:solidFill>
                  <a:srgbClr val="659ECA"/>
                </a:solidFill>
                <a:latin typeface="Helvetica" pitchFamily="2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320227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2D57D-77F7-7112-FF6A-E4FB5CF7C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C840DCD-825B-4B33-C872-DA2F1B1D2595}"/>
              </a:ext>
            </a:extLst>
          </p:cNvPr>
          <p:cNvSpPr/>
          <p:nvPr/>
        </p:nvSpPr>
        <p:spPr>
          <a:xfrm>
            <a:off x="658639" y="4554388"/>
            <a:ext cx="2417346" cy="886162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defTabSz="914377">
              <a:spcAft>
                <a:spcPts val="600"/>
              </a:spcAft>
              <a:defRPr/>
            </a:pPr>
            <a:endParaRPr lang="en-US" sz="800">
              <a:solidFill>
                <a:schemeClr val="bg1"/>
              </a:solidFill>
              <a:latin typeface="GT-Walsheim-Regula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02925A-748F-166E-8F89-F3045579615A}"/>
              </a:ext>
            </a:extLst>
          </p:cNvPr>
          <p:cNvSpPr/>
          <p:nvPr/>
        </p:nvSpPr>
        <p:spPr>
          <a:xfrm>
            <a:off x="649661" y="2625437"/>
            <a:ext cx="2417346" cy="864000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defTabSz="914377">
              <a:spcAft>
                <a:spcPts val="600"/>
              </a:spcAft>
              <a:defRPr/>
            </a:pPr>
            <a:endParaRPr lang="en-US" sz="800">
              <a:solidFill>
                <a:schemeClr val="bg1"/>
              </a:solidFill>
              <a:latin typeface="GT-Walsheim-Regula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BDD33-F777-650E-5C48-93664C0CBB9E}"/>
              </a:ext>
            </a:extLst>
          </p:cNvPr>
          <p:cNvSpPr/>
          <p:nvPr/>
        </p:nvSpPr>
        <p:spPr>
          <a:xfrm>
            <a:off x="658639" y="3582602"/>
            <a:ext cx="2417346" cy="864000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defTabSz="914377">
              <a:spcAft>
                <a:spcPts val="600"/>
              </a:spcAft>
              <a:defRPr/>
            </a:pPr>
            <a:endParaRPr lang="en-US" sz="800">
              <a:solidFill>
                <a:schemeClr val="bg1"/>
              </a:solidFill>
              <a:latin typeface="GT-Walsheim-Regular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1C94AE4-882E-2339-6BF1-FDBCF078D841}"/>
              </a:ext>
            </a:extLst>
          </p:cNvPr>
          <p:cNvSpPr/>
          <p:nvPr/>
        </p:nvSpPr>
        <p:spPr>
          <a:xfrm>
            <a:off x="658639" y="1669186"/>
            <a:ext cx="2417346" cy="864000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defTabSz="914377">
              <a:spcAft>
                <a:spcPts val="600"/>
              </a:spcAft>
              <a:defRPr/>
            </a:pPr>
            <a:endParaRPr lang="en-US" sz="800">
              <a:solidFill>
                <a:schemeClr val="bg1"/>
              </a:solidFill>
              <a:latin typeface="GT-Walsheim-Regular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52E4311-BACD-913F-C71F-569812E0006E}"/>
              </a:ext>
            </a:extLst>
          </p:cNvPr>
          <p:cNvSpPr/>
          <p:nvPr/>
        </p:nvSpPr>
        <p:spPr>
          <a:xfrm>
            <a:off x="3733737" y="4558424"/>
            <a:ext cx="5103813" cy="882199"/>
          </a:xfrm>
          <a:prstGeom prst="rect">
            <a:avLst/>
          </a:prstGeom>
          <a:solidFill>
            <a:srgbClr val="EEF5F5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DC0A898-0A19-F828-ED89-280F072C95F3}"/>
              </a:ext>
            </a:extLst>
          </p:cNvPr>
          <p:cNvSpPr/>
          <p:nvPr/>
        </p:nvSpPr>
        <p:spPr>
          <a:xfrm>
            <a:off x="3747046" y="3583925"/>
            <a:ext cx="5103813" cy="864000"/>
          </a:xfrm>
          <a:prstGeom prst="rect">
            <a:avLst/>
          </a:prstGeom>
          <a:solidFill>
            <a:srgbClr val="EEF5F5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8E99CF8-F652-3BF0-4ECC-A2296AC09315}"/>
              </a:ext>
            </a:extLst>
          </p:cNvPr>
          <p:cNvSpPr/>
          <p:nvPr/>
        </p:nvSpPr>
        <p:spPr>
          <a:xfrm>
            <a:off x="3734530" y="2625437"/>
            <a:ext cx="5103813" cy="864000"/>
          </a:xfrm>
          <a:prstGeom prst="rect">
            <a:avLst/>
          </a:prstGeom>
          <a:solidFill>
            <a:srgbClr val="EEF5F5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78C8D55-AFB4-7F7A-34F2-FC62453AB921}"/>
              </a:ext>
            </a:extLst>
          </p:cNvPr>
          <p:cNvSpPr/>
          <p:nvPr/>
        </p:nvSpPr>
        <p:spPr>
          <a:xfrm>
            <a:off x="3740566" y="1672465"/>
            <a:ext cx="5103813" cy="864000"/>
          </a:xfrm>
          <a:prstGeom prst="rect">
            <a:avLst/>
          </a:prstGeom>
          <a:solidFill>
            <a:srgbClr val="EEF5F5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A4AA6B7B-ABD1-74CC-5672-561D77BE9696}"/>
              </a:ext>
            </a:extLst>
          </p:cNvPr>
          <p:cNvSpPr/>
          <p:nvPr/>
        </p:nvSpPr>
        <p:spPr>
          <a:xfrm>
            <a:off x="9039606" y="1403319"/>
            <a:ext cx="2927545" cy="4061734"/>
          </a:xfrm>
          <a:prstGeom prst="roundRect">
            <a:avLst/>
          </a:prstGeom>
          <a:solidFill>
            <a:srgbClr val="94B7BB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endParaRPr lang="en-US" sz="1100" kern="0">
              <a:solidFill>
                <a:srgbClr val="E13C32"/>
              </a:solidFill>
              <a:latin typeface="FuturaTOT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95B3C7B-7EAB-B5F4-5317-1AC99C082611}"/>
              </a:ext>
            </a:extLst>
          </p:cNvPr>
          <p:cNvSpPr/>
          <p:nvPr/>
        </p:nvSpPr>
        <p:spPr>
          <a:xfrm>
            <a:off x="5258799" y="1309196"/>
            <a:ext cx="1307438" cy="307466"/>
          </a:xfrm>
          <a:prstGeom prst="rect">
            <a:avLst/>
          </a:prstGeom>
          <a:solidFill>
            <a:srgbClr val="023C6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lnSpc>
                <a:spcPct val="107000"/>
              </a:lnSpc>
              <a:spcAft>
                <a:spcPts val="1067"/>
              </a:spcAft>
              <a:defRPr/>
            </a:pPr>
            <a:r>
              <a:rPr lang="en-US" sz="1867" kern="0">
                <a:solidFill>
                  <a:srgbClr val="323C46"/>
                </a:solidFill>
                <a:latin typeface="FuturaTOT"/>
              </a:rPr>
              <a:t>z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8AD118E-933A-C512-6F37-49CBCCDD446F}"/>
              </a:ext>
            </a:extLst>
          </p:cNvPr>
          <p:cNvSpPr/>
          <p:nvPr/>
        </p:nvSpPr>
        <p:spPr>
          <a:xfrm>
            <a:off x="8126108" y="1309196"/>
            <a:ext cx="750574" cy="307466"/>
          </a:xfrm>
          <a:prstGeom prst="rect">
            <a:avLst/>
          </a:prstGeom>
          <a:solidFill>
            <a:srgbClr val="023C6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lnSpc>
                <a:spcPct val="107000"/>
              </a:lnSpc>
              <a:spcAft>
                <a:spcPts val="1067"/>
              </a:spcAft>
              <a:defRPr/>
            </a:pPr>
            <a:endParaRPr lang="en-US" sz="1867" kern="0">
              <a:solidFill>
                <a:srgbClr val="323C46"/>
              </a:solidFill>
              <a:latin typeface="FuturaTO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F0B792-EE31-91BB-A0F7-09ACDEDF4FC9}"/>
              </a:ext>
            </a:extLst>
          </p:cNvPr>
          <p:cNvSpPr/>
          <p:nvPr/>
        </p:nvSpPr>
        <p:spPr>
          <a:xfrm>
            <a:off x="1329701" y="1669291"/>
            <a:ext cx="2417346" cy="864000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defTabSz="914377">
              <a:spcAft>
                <a:spcPts val="600"/>
              </a:spcAft>
              <a:defRPr/>
            </a:pPr>
            <a:r>
              <a:rPr lang="en-US" sz="1600" b="1">
                <a:solidFill>
                  <a:schemeClr val="bg1"/>
                </a:solidFill>
                <a:latin typeface="Helvetica" pitchFamily="2" charset="0"/>
              </a:rPr>
              <a:t>Targeted Safety Programme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D74B5-7523-68A8-5D01-0EAC57FB9E8A}"/>
              </a:ext>
            </a:extLst>
          </p:cNvPr>
          <p:cNvSpPr/>
          <p:nvPr/>
        </p:nvSpPr>
        <p:spPr>
          <a:xfrm>
            <a:off x="1329701" y="3581583"/>
            <a:ext cx="2417352" cy="864000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defTabSz="914377">
              <a:spcAft>
                <a:spcPts val="600"/>
              </a:spcAft>
              <a:defRPr/>
            </a:pPr>
            <a:r>
              <a:rPr lang="en-US" sz="1600" b="1">
                <a:solidFill>
                  <a:schemeClr val="bg1"/>
                </a:solidFill>
                <a:latin typeface="Helvetica" pitchFamily="2" charset="0"/>
              </a:rPr>
              <a:t>Data Collection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D62AFD-889E-A09C-7193-B9DBB5C34838}"/>
              </a:ext>
            </a:extLst>
          </p:cNvPr>
          <p:cNvSpPr/>
          <p:nvPr/>
        </p:nvSpPr>
        <p:spPr>
          <a:xfrm>
            <a:off x="1329701" y="4554388"/>
            <a:ext cx="2417346" cy="886162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bg1"/>
                </a:solidFill>
                <a:latin typeface="Helvetica" pitchFamily="2" charset="0"/>
              </a:rPr>
              <a:t>Root Cause Analysis</a:t>
            </a:r>
          </a:p>
        </p:txBody>
      </p:sp>
      <p:grpSp>
        <p:nvGrpSpPr>
          <p:cNvPr id="15" name="Groupe 7">
            <a:extLst>
              <a:ext uri="{FF2B5EF4-FFF2-40B4-BE49-F238E27FC236}">
                <a16:creationId xmlns:a16="http://schemas.microsoft.com/office/drawing/2014/main" id="{EDB08DE5-C3D2-C6AE-DAB6-B9B8E0747251}"/>
              </a:ext>
            </a:extLst>
          </p:cNvPr>
          <p:cNvGrpSpPr/>
          <p:nvPr/>
        </p:nvGrpSpPr>
        <p:grpSpPr>
          <a:xfrm>
            <a:off x="605487" y="1171890"/>
            <a:ext cx="3141561" cy="401494"/>
            <a:chOff x="304970" y="980425"/>
            <a:chExt cx="4070261" cy="4943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937CD3-2853-C016-2C34-9AC5C3E520E1}"/>
                </a:ext>
              </a:extLst>
            </p:cNvPr>
            <p:cNvSpPr/>
            <p:nvPr/>
          </p:nvSpPr>
          <p:spPr>
            <a:xfrm>
              <a:off x="304970" y="980425"/>
              <a:ext cx="1051560" cy="378612"/>
            </a:xfrm>
            <a:prstGeom prst="rect">
              <a:avLst/>
            </a:prstGeom>
            <a:solidFill>
              <a:srgbClr val="023C6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lnSpc>
                  <a:spcPct val="107000"/>
                </a:lnSpc>
                <a:spcAft>
                  <a:spcPts val="1067"/>
                </a:spcAft>
                <a:defRPr/>
              </a:pPr>
              <a:endParaRPr lang="en-US" sz="1867" kern="0">
                <a:solidFill>
                  <a:srgbClr val="323C46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1DA630-77FB-C391-7361-A9632A79D602}"/>
                </a:ext>
              </a:extLst>
            </p:cNvPr>
            <p:cNvSpPr/>
            <p:nvPr/>
          </p:nvSpPr>
          <p:spPr>
            <a:xfrm>
              <a:off x="341673" y="1014650"/>
              <a:ext cx="4033558" cy="460173"/>
            </a:xfrm>
            <a:prstGeom prst="rect">
              <a:avLst/>
            </a:prstGeom>
            <a:solidFill>
              <a:srgbClr val="EAF1F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lnSpc>
                  <a:spcPct val="107000"/>
                </a:lnSpc>
                <a:spcAft>
                  <a:spcPts val="1067"/>
                </a:spcAft>
                <a:defRPr/>
              </a:pPr>
              <a:r>
                <a:rPr lang="en-US" sz="1400" kern="0">
                  <a:solidFill>
                    <a:srgbClr val="323C46"/>
                  </a:solidFill>
                  <a:latin typeface="Helvetica" pitchFamily="2" charset="0"/>
                </a:rPr>
                <a:t>Material Measure</a:t>
              </a:r>
            </a:p>
          </p:txBody>
        </p: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67DA398-48C7-A82D-7EC6-9093447ED7CF}"/>
              </a:ext>
            </a:extLst>
          </p:cNvPr>
          <p:cNvCxnSpPr>
            <a:cxnSpLocks/>
          </p:cNvCxnSpPr>
          <p:nvPr/>
        </p:nvCxnSpPr>
        <p:spPr>
          <a:xfrm>
            <a:off x="1217434" y="2731823"/>
            <a:ext cx="0" cy="648000"/>
          </a:xfrm>
          <a:prstGeom prst="line">
            <a:avLst/>
          </a:prstGeom>
          <a:ln w="28575">
            <a:solidFill>
              <a:srgbClr val="00F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834F20-4C77-2F5E-4B00-7B89174C56F0}"/>
              </a:ext>
            </a:extLst>
          </p:cNvPr>
          <p:cNvCxnSpPr>
            <a:cxnSpLocks/>
          </p:cNvCxnSpPr>
          <p:nvPr/>
        </p:nvCxnSpPr>
        <p:spPr>
          <a:xfrm>
            <a:off x="1217434" y="3698146"/>
            <a:ext cx="0" cy="648000"/>
          </a:xfrm>
          <a:prstGeom prst="line">
            <a:avLst/>
          </a:prstGeom>
          <a:ln w="28575">
            <a:solidFill>
              <a:srgbClr val="00F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831C527-F23E-637E-C649-9986736B6EE4}"/>
              </a:ext>
            </a:extLst>
          </p:cNvPr>
          <p:cNvCxnSpPr>
            <a:cxnSpLocks/>
          </p:cNvCxnSpPr>
          <p:nvPr/>
        </p:nvCxnSpPr>
        <p:spPr>
          <a:xfrm>
            <a:off x="1217434" y="4675757"/>
            <a:ext cx="0" cy="648000"/>
          </a:xfrm>
          <a:prstGeom prst="line">
            <a:avLst/>
          </a:prstGeom>
          <a:ln w="28575">
            <a:solidFill>
              <a:srgbClr val="00F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38423F5-E389-BC53-2FB4-467AE0C99F7A}"/>
              </a:ext>
            </a:extLst>
          </p:cNvPr>
          <p:cNvCxnSpPr>
            <a:cxnSpLocks/>
          </p:cNvCxnSpPr>
          <p:nvPr/>
        </p:nvCxnSpPr>
        <p:spPr>
          <a:xfrm>
            <a:off x="1217434" y="1788078"/>
            <a:ext cx="0" cy="648000"/>
          </a:xfrm>
          <a:prstGeom prst="line">
            <a:avLst/>
          </a:prstGeom>
          <a:ln w="28575">
            <a:solidFill>
              <a:srgbClr val="00F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E71A9B7-6A52-60B6-8BA9-749D343A6B48}"/>
              </a:ext>
            </a:extLst>
          </p:cNvPr>
          <p:cNvSpPr/>
          <p:nvPr/>
        </p:nvSpPr>
        <p:spPr>
          <a:xfrm>
            <a:off x="4032361" y="1687493"/>
            <a:ext cx="4412594" cy="864000"/>
          </a:xfrm>
          <a:prstGeom prst="rect">
            <a:avLst/>
          </a:prstGeom>
          <a:solidFill>
            <a:srgbClr val="94B7BB">
              <a:lumMod val="20000"/>
              <a:lumOff val="8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4000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ts val="1380"/>
              </a:lnSpc>
              <a:buClr>
                <a:srgbClr val="002F43"/>
              </a:buClr>
              <a:defRPr/>
            </a:pPr>
            <a:r>
              <a:rPr lang="en-US" sz="1050" dirty="0">
                <a:solidFill>
                  <a:srgbClr val="023C65"/>
                </a:solidFill>
                <a:latin typeface="Helvetica" pitchFamily="2" charset="0"/>
              </a:rPr>
              <a:t>For higher-risk sectors (Energy &amp; Midstream, Transport) based on their elevated TRIR/LTIR relative to OSHA benchmarks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AB87E1-C315-C935-FD4A-B7A3BDBC8F11}"/>
              </a:ext>
            </a:extLst>
          </p:cNvPr>
          <p:cNvCxnSpPr>
            <a:cxnSpLocks/>
          </p:cNvCxnSpPr>
          <p:nvPr/>
        </p:nvCxnSpPr>
        <p:spPr>
          <a:xfrm>
            <a:off x="2743200" y="5871130"/>
            <a:ext cx="4811784" cy="0"/>
          </a:xfrm>
          <a:prstGeom prst="line">
            <a:avLst/>
          </a:prstGeom>
          <a:ln w="28575">
            <a:solidFill>
              <a:srgbClr val="023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B1F7BB5-9781-C86B-307F-4EAA60AD2C6C}"/>
              </a:ext>
            </a:extLst>
          </p:cNvPr>
          <p:cNvSpPr/>
          <p:nvPr/>
        </p:nvSpPr>
        <p:spPr>
          <a:xfrm>
            <a:off x="6656236" y="1209056"/>
            <a:ext cx="2194623" cy="373700"/>
          </a:xfrm>
          <a:prstGeom prst="rect">
            <a:avLst/>
          </a:prstGeom>
          <a:solidFill>
            <a:srgbClr val="EAF1F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lnSpc>
                <a:spcPct val="107000"/>
              </a:lnSpc>
              <a:spcAft>
                <a:spcPts val="1067"/>
              </a:spcAft>
              <a:defRPr/>
            </a:pPr>
            <a:r>
              <a:rPr lang="en-US" sz="1200" kern="0">
                <a:solidFill>
                  <a:srgbClr val="323C46"/>
                </a:solidFill>
                <a:latin typeface="Helvetica" pitchFamily="2" charset="0"/>
              </a:rPr>
              <a:t>Fund Impact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80305FB-3582-0627-0A78-EAFA93940198}"/>
              </a:ext>
            </a:extLst>
          </p:cNvPr>
          <p:cNvGrpSpPr/>
          <p:nvPr/>
        </p:nvGrpSpPr>
        <p:grpSpPr>
          <a:xfrm>
            <a:off x="3643090" y="1177298"/>
            <a:ext cx="3113223" cy="401955"/>
            <a:chOff x="4557790" y="1152838"/>
            <a:chExt cx="2561500" cy="40195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C38CC56-4ABD-CA7C-7033-00E3EC9E6967}"/>
                </a:ext>
              </a:extLst>
            </p:cNvPr>
            <p:cNvSpPr/>
            <p:nvPr/>
          </p:nvSpPr>
          <p:spPr>
            <a:xfrm>
              <a:off x="4637992" y="1152838"/>
              <a:ext cx="1253339" cy="307466"/>
            </a:xfrm>
            <a:prstGeom prst="rect">
              <a:avLst/>
            </a:prstGeom>
            <a:solidFill>
              <a:srgbClr val="023C6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lnSpc>
                  <a:spcPct val="107000"/>
                </a:lnSpc>
                <a:spcAft>
                  <a:spcPts val="1067"/>
                </a:spcAft>
                <a:defRPr/>
              </a:pPr>
              <a:endParaRPr lang="en-US" sz="1867" kern="0">
                <a:solidFill>
                  <a:srgbClr val="00007C"/>
                </a:solidFill>
                <a:latin typeface="Helvetica" pitchFamily="2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339D49C-6543-F6A8-0170-60B492C56D50}"/>
                </a:ext>
              </a:extLst>
            </p:cNvPr>
            <p:cNvSpPr/>
            <p:nvPr/>
          </p:nvSpPr>
          <p:spPr>
            <a:xfrm>
              <a:off x="4557790" y="1181093"/>
              <a:ext cx="2561500" cy="373700"/>
            </a:xfrm>
            <a:prstGeom prst="rect">
              <a:avLst/>
            </a:prstGeom>
            <a:solidFill>
              <a:srgbClr val="EAF1F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lnSpc>
                  <a:spcPct val="107000"/>
                </a:lnSpc>
                <a:spcAft>
                  <a:spcPts val="1067"/>
                </a:spcAft>
                <a:defRPr/>
              </a:pPr>
              <a:r>
                <a:rPr lang="en-US" sz="1200" kern="0">
                  <a:solidFill>
                    <a:srgbClr val="323C46"/>
                  </a:solidFill>
                  <a:latin typeface="Helvetica" pitchFamily="2" charset="0"/>
                </a:rPr>
                <a:t>Feasibility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ADAEC09-2209-FD5B-B0CB-499599E5A9B4}"/>
              </a:ext>
            </a:extLst>
          </p:cNvPr>
          <p:cNvGrpSpPr/>
          <p:nvPr/>
        </p:nvGrpSpPr>
        <p:grpSpPr>
          <a:xfrm rot="5400000">
            <a:off x="3918976" y="1949393"/>
            <a:ext cx="131976" cy="174720"/>
            <a:chOff x="5648226" y="594804"/>
            <a:chExt cx="131976" cy="174720"/>
          </a:xfrm>
          <a:solidFill>
            <a:srgbClr val="023C65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7CE00C3-E835-99D5-EBE5-AC0C79060723}"/>
                </a:ext>
              </a:extLst>
            </p:cNvPr>
            <p:cNvSpPr/>
            <p:nvPr/>
          </p:nvSpPr>
          <p:spPr>
            <a:xfrm>
              <a:off x="5648226" y="659005"/>
              <a:ext cx="131976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3D1A891-D4B0-724F-5128-AA06464C74E5}"/>
                </a:ext>
              </a:extLst>
            </p:cNvPr>
            <p:cNvSpPr/>
            <p:nvPr/>
          </p:nvSpPr>
          <p:spPr>
            <a:xfrm>
              <a:off x="5648226" y="723805"/>
              <a:ext cx="131976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842CF1E-C15C-EF43-9CF6-13140CE51F90}"/>
                </a:ext>
              </a:extLst>
            </p:cNvPr>
            <p:cNvSpPr/>
            <p:nvPr/>
          </p:nvSpPr>
          <p:spPr>
            <a:xfrm>
              <a:off x="5648226" y="594804"/>
              <a:ext cx="131976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57" name="Connecteur droit 25">
            <a:extLst>
              <a:ext uri="{FF2B5EF4-FFF2-40B4-BE49-F238E27FC236}">
                <a16:creationId xmlns:a16="http://schemas.microsoft.com/office/drawing/2014/main" id="{1CB19328-7FCD-FCC2-38F7-9341097B0290}"/>
              </a:ext>
            </a:extLst>
          </p:cNvPr>
          <p:cNvCxnSpPr>
            <a:cxnSpLocks/>
          </p:cNvCxnSpPr>
          <p:nvPr/>
        </p:nvCxnSpPr>
        <p:spPr>
          <a:xfrm>
            <a:off x="10048467" y="1193922"/>
            <a:ext cx="0" cy="318036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38">
            <a:extLst>
              <a:ext uri="{FF2B5EF4-FFF2-40B4-BE49-F238E27FC236}">
                <a16:creationId xmlns:a16="http://schemas.microsoft.com/office/drawing/2014/main" id="{2EE28CDD-B15D-6211-9E75-F890A80983D0}"/>
              </a:ext>
            </a:extLst>
          </p:cNvPr>
          <p:cNvSpPr/>
          <p:nvPr/>
        </p:nvSpPr>
        <p:spPr>
          <a:xfrm>
            <a:off x="9644609" y="1207301"/>
            <a:ext cx="1775425" cy="347713"/>
          </a:xfrm>
          <a:prstGeom prst="roundRect">
            <a:avLst/>
          </a:prstGeom>
          <a:solidFill>
            <a:srgbClr val="659EC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r>
              <a:rPr lang="en-US" sz="1200" b="1" kern="0">
                <a:solidFill>
                  <a:srgbClr val="FFFFFF"/>
                </a:solidFill>
                <a:latin typeface="Helvetica" pitchFamily="2" charset="0"/>
              </a:rPr>
              <a:t>Debt Owned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B719371-9524-7DB5-5074-4E28C68F643C}"/>
              </a:ext>
            </a:extLst>
          </p:cNvPr>
          <p:cNvSpPr/>
          <p:nvPr/>
        </p:nvSpPr>
        <p:spPr>
          <a:xfrm>
            <a:off x="9434040" y="2138449"/>
            <a:ext cx="2196562" cy="166728"/>
          </a:xfrm>
          <a:prstGeom prst="rect">
            <a:avLst/>
          </a:prstGeom>
          <a:solidFill>
            <a:srgbClr val="659EC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r>
              <a:rPr lang="en-US" sz="800" kern="0">
                <a:solidFill>
                  <a:srgbClr val="FFFFFF"/>
                </a:solidFill>
                <a:latin typeface="Helvetica" pitchFamily="2" charset="0"/>
              </a:rPr>
              <a:t>Focus on loan-level ESG Covenants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B3FF3A1A-77A5-8620-3DFB-5EB2D4A786BB}"/>
              </a:ext>
            </a:extLst>
          </p:cNvPr>
          <p:cNvSpPr txBox="1">
            <a:spLocks/>
          </p:cNvSpPr>
          <p:nvPr/>
        </p:nvSpPr>
        <p:spPr>
          <a:xfrm>
            <a:off x="1395246" y="6014682"/>
            <a:ext cx="6159738" cy="646007"/>
          </a:xfrm>
          <a:prstGeom prst="rect">
            <a:avLst/>
          </a:prstGeom>
          <a:solidFill>
            <a:schemeClr val="bg1">
              <a:alpha val="12000"/>
            </a:schemeClr>
          </a:solidFill>
          <a:ln>
            <a:solidFill>
              <a:srgbClr val="023C65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00"/>
              </a:spcBef>
              <a:buNone/>
            </a:pPr>
            <a:endParaRPr lang="en-GB" sz="1050">
              <a:solidFill>
                <a:srgbClr val="002F43"/>
              </a:solidFill>
              <a:latin typeface="GT-Walsheim-Regular"/>
            </a:endParaRPr>
          </a:p>
        </p:txBody>
      </p:sp>
      <p:sp>
        <p:nvSpPr>
          <p:cNvPr id="76" name="ZoneTexte 56">
            <a:extLst>
              <a:ext uri="{FF2B5EF4-FFF2-40B4-BE49-F238E27FC236}">
                <a16:creationId xmlns:a16="http://schemas.microsoft.com/office/drawing/2014/main" id="{D5B4B035-74F7-CDA5-6A84-46A087092F3D}"/>
              </a:ext>
            </a:extLst>
          </p:cNvPr>
          <p:cNvSpPr txBox="1"/>
          <p:nvPr/>
        </p:nvSpPr>
        <p:spPr>
          <a:xfrm>
            <a:off x="491565" y="5702805"/>
            <a:ext cx="4901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4622">
              <a:defRPr/>
            </a:pPr>
            <a:r>
              <a:rPr lang="en-US" sz="1600" b="1">
                <a:solidFill>
                  <a:srgbClr val="023C65"/>
                </a:solidFill>
                <a:latin typeface="GT-Walsheim-Regular"/>
              </a:rPr>
              <a:t>Key ESG Team Q for FM’s</a:t>
            </a:r>
          </a:p>
        </p:txBody>
      </p:sp>
      <p:cxnSp>
        <p:nvCxnSpPr>
          <p:cNvPr id="77" name="Connecteur droit 25">
            <a:extLst>
              <a:ext uri="{FF2B5EF4-FFF2-40B4-BE49-F238E27FC236}">
                <a16:creationId xmlns:a16="http://schemas.microsoft.com/office/drawing/2014/main" id="{AFC619CE-0413-40C8-AA96-115584A38834}"/>
              </a:ext>
            </a:extLst>
          </p:cNvPr>
          <p:cNvCxnSpPr/>
          <p:nvPr/>
        </p:nvCxnSpPr>
        <p:spPr>
          <a:xfrm>
            <a:off x="491564" y="5713064"/>
            <a:ext cx="0" cy="318036"/>
          </a:xfrm>
          <a:prstGeom prst="line">
            <a:avLst/>
          </a:prstGeom>
          <a:ln w="19050">
            <a:solidFill>
              <a:srgbClr val="023C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ZoneTexte 21">
            <a:extLst>
              <a:ext uri="{FF2B5EF4-FFF2-40B4-BE49-F238E27FC236}">
                <a16:creationId xmlns:a16="http://schemas.microsoft.com/office/drawing/2014/main" id="{1A7970D3-53D4-855E-FE7D-E67D602E4BB3}"/>
              </a:ext>
            </a:extLst>
          </p:cNvPr>
          <p:cNvSpPr txBox="1"/>
          <p:nvPr/>
        </p:nvSpPr>
        <p:spPr>
          <a:xfrm>
            <a:off x="6581319" y="4558916"/>
            <a:ext cx="2132766" cy="76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 algn="just">
              <a:spcAft>
                <a:spcPts val="0"/>
              </a:spcAft>
              <a:buClr>
                <a:schemeClr val="accent1"/>
              </a:buClr>
              <a:buFont typeface="Symbol" panose="05050102010706020507" pitchFamily="18" charset="2"/>
              <a:buChar char="ñ"/>
              <a:defRPr sz="900"/>
            </a:lvl1pPr>
          </a:lstStyle>
          <a:p>
            <a:pPr defTabSz="414632">
              <a:lnSpc>
                <a:spcPct val="150000"/>
              </a:lnSpc>
              <a:spcAft>
                <a:spcPts val="300"/>
              </a:spcAft>
              <a:buClr>
                <a:srgbClr val="00007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23C65"/>
                </a:solidFill>
                <a:latin typeface="Helvetica" pitchFamily="2" charset="0"/>
              </a:rPr>
              <a:t>Investigate root causes where TRIR/LTIR exceed benchmarks consistently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2547057-CE21-58F9-7AA9-5361B551E443}"/>
              </a:ext>
            </a:extLst>
          </p:cNvPr>
          <p:cNvSpPr/>
          <p:nvPr/>
        </p:nvSpPr>
        <p:spPr>
          <a:xfrm>
            <a:off x="9039607" y="2354524"/>
            <a:ext cx="2822622" cy="705627"/>
          </a:xfrm>
          <a:prstGeom prst="rect">
            <a:avLst/>
          </a:prstGeom>
          <a:solidFill>
            <a:srgbClr val="94B7BB">
              <a:lumMod val="20000"/>
              <a:lumOff val="8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4000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50000"/>
              </a:lnSpc>
              <a:buClr>
                <a:srgbClr val="002F43"/>
              </a:buClr>
              <a:defRPr/>
            </a:pPr>
            <a:r>
              <a:rPr lang="en-US" sz="700" i="1">
                <a:solidFill>
                  <a:srgbClr val="002F43"/>
                </a:solidFill>
                <a:latin typeface="Helvetica" pitchFamily="2" charset="0"/>
              </a:rPr>
              <a:t>(Replace Safety Programme)</a:t>
            </a:r>
          </a:p>
          <a:p>
            <a:pPr defTabSz="1219170">
              <a:lnSpc>
                <a:spcPct val="150000"/>
              </a:lnSpc>
              <a:buClr>
                <a:srgbClr val="002F43"/>
              </a:buClr>
              <a:defRPr/>
            </a:pPr>
            <a:endParaRPr lang="en-US" sz="200" i="1">
              <a:solidFill>
                <a:srgbClr val="002F43"/>
              </a:solidFill>
              <a:latin typeface="Helvetica" pitchFamily="2" charset="0"/>
            </a:endParaRPr>
          </a:p>
          <a:p>
            <a:pPr defTabSz="1219170">
              <a:lnSpc>
                <a:spcPct val="150000"/>
              </a:lnSpc>
              <a:buClr>
                <a:srgbClr val="002F43"/>
              </a:buClr>
              <a:defRPr/>
            </a:pPr>
            <a:r>
              <a:rPr lang="en-US" sz="900">
                <a:solidFill>
                  <a:srgbClr val="002F43"/>
                </a:solidFill>
                <a:latin typeface="Helvetica" pitchFamily="2" charset="0"/>
              </a:rPr>
              <a:t>Instead of direct control, lenders would require minimum Safety requirements, capex plans, or safety reporting from borrowers to mitigate risk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BCACF40-199D-B1D0-45D5-002085859FE2}"/>
              </a:ext>
            </a:extLst>
          </p:cNvPr>
          <p:cNvSpPr/>
          <p:nvPr/>
        </p:nvSpPr>
        <p:spPr>
          <a:xfrm>
            <a:off x="4047096" y="3570469"/>
            <a:ext cx="4656304" cy="864000"/>
          </a:xfrm>
          <a:prstGeom prst="rect">
            <a:avLst/>
          </a:prstGeom>
          <a:solidFill>
            <a:srgbClr val="94B7BB">
              <a:lumMod val="20000"/>
              <a:lumOff val="8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4000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50000"/>
              </a:lnSpc>
              <a:spcBef>
                <a:spcPts val="600"/>
              </a:spcBef>
              <a:buClr>
                <a:srgbClr val="002F43"/>
              </a:buClr>
              <a:defRPr/>
            </a:pPr>
            <a:r>
              <a:rPr lang="en-US" sz="1050" dirty="0">
                <a:solidFill>
                  <a:srgbClr val="023C65"/>
                </a:solidFill>
                <a:latin typeface="Helvetica" pitchFamily="2" charset="0"/>
              </a:rPr>
              <a:t>Focusing on assets with N/R entries or inconsistent reporting.</a:t>
            </a:r>
            <a:endParaRPr lang="en-US" sz="1200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D196C24-B72C-7E89-08C7-5877D9D7FC89}"/>
              </a:ext>
            </a:extLst>
          </p:cNvPr>
          <p:cNvSpPr/>
          <p:nvPr/>
        </p:nvSpPr>
        <p:spPr>
          <a:xfrm rot="5400000">
            <a:off x="3849849" y="3999001"/>
            <a:ext cx="131976" cy="45719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6C10531-0D79-9360-D517-6E3220B6201D}"/>
              </a:ext>
            </a:extLst>
          </p:cNvPr>
          <p:cNvGrpSpPr/>
          <p:nvPr/>
        </p:nvGrpSpPr>
        <p:grpSpPr>
          <a:xfrm rot="5400000">
            <a:off x="3884153" y="2947376"/>
            <a:ext cx="131976" cy="110519"/>
            <a:chOff x="5648226" y="659005"/>
            <a:chExt cx="131976" cy="110519"/>
          </a:xfrm>
          <a:solidFill>
            <a:srgbClr val="023C65"/>
          </a:solidFill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7D4ADB3-19EE-ACCF-84B5-1A3C4910A530}"/>
                </a:ext>
              </a:extLst>
            </p:cNvPr>
            <p:cNvSpPr/>
            <p:nvPr/>
          </p:nvSpPr>
          <p:spPr>
            <a:xfrm>
              <a:off x="5648226" y="659005"/>
              <a:ext cx="131976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3923C63-AD4A-433E-E268-F4163DE719C1}"/>
                </a:ext>
              </a:extLst>
            </p:cNvPr>
            <p:cNvSpPr/>
            <p:nvPr/>
          </p:nvSpPr>
          <p:spPr>
            <a:xfrm>
              <a:off x="5648226" y="723805"/>
              <a:ext cx="131976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BF00412-A12C-0A95-6A28-F891D256E2A4}"/>
              </a:ext>
            </a:extLst>
          </p:cNvPr>
          <p:cNvSpPr/>
          <p:nvPr/>
        </p:nvSpPr>
        <p:spPr>
          <a:xfrm>
            <a:off x="4062025" y="2625437"/>
            <a:ext cx="4412593" cy="864000"/>
          </a:xfrm>
          <a:prstGeom prst="rect">
            <a:avLst/>
          </a:prstGeom>
          <a:solidFill>
            <a:srgbClr val="94B7BB">
              <a:lumMod val="20000"/>
              <a:lumOff val="8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4000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50000"/>
              </a:lnSpc>
              <a:spcBef>
                <a:spcPts val="300"/>
              </a:spcBef>
              <a:spcAft>
                <a:spcPts val="600"/>
              </a:spcAft>
              <a:buClr>
                <a:srgbClr val="002F43"/>
              </a:buClr>
              <a:defRPr/>
            </a:pPr>
            <a:r>
              <a:rPr lang="en-US" sz="1050" dirty="0">
                <a:solidFill>
                  <a:srgbClr val="023C65"/>
                </a:solidFill>
                <a:latin typeface="Helvetica" pitchFamily="2" charset="0"/>
              </a:rPr>
              <a:t>Introduce near-miss and hazard observation reporting to identify risks before they result in recordables.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58EDBD5-52F8-882D-8C83-47743C7FB5DD}"/>
              </a:ext>
            </a:extLst>
          </p:cNvPr>
          <p:cNvSpPr/>
          <p:nvPr/>
        </p:nvSpPr>
        <p:spPr>
          <a:xfrm>
            <a:off x="4032361" y="4558390"/>
            <a:ext cx="2591028" cy="864000"/>
          </a:xfrm>
          <a:prstGeom prst="rect">
            <a:avLst/>
          </a:prstGeom>
          <a:solidFill>
            <a:srgbClr val="94B7BB">
              <a:lumMod val="20000"/>
              <a:lumOff val="8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4000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ts val="1380"/>
              </a:lnSpc>
              <a:spcBef>
                <a:spcPts val="300"/>
              </a:spcBef>
              <a:spcAft>
                <a:spcPts val="600"/>
              </a:spcAft>
              <a:buClr>
                <a:srgbClr val="002F43"/>
              </a:buClr>
              <a:defRPr/>
            </a:pPr>
            <a:r>
              <a:rPr lang="en-US" sz="1000" b="1" dirty="0">
                <a:solidFill>
                  <a:srgbClr val="023C65"/>
                </a:solidFill>
                <a:latin typeface="Helvetica" pitchFamily="2" charset="0"/>
              </a:rPr>
              <a:t>Must be completed </a:t>
            </a:r>
            <a:r>
              <a:rPr lang="en-US" sz="1000" dirty="0">
                <a:solidFill>
                  <a:srgbClr val="023C65"/>
                </a:solidFill>
                <a:latin typeface="Helvetica" pitchFamily="2" charset="0"/>
              </a:rPr>
              <a:t>by Asset Management Team – top-level implementation harder to enforce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B2D67B7-23D5-87DF-B794-9D9AED6A870B}"/>
              </a:ext>
            </a:extLst>
          </p:cNvPr>
          <p:cNvSpPr/>
          <p:nvPr/>
        </p:nvSpPr>
        <p:spPr>
          <a:xfrm>
            <a:off x="9301632" y="1676926"/>
            <a:ext cx="2623545" cy="316242"/>
          </a:xfrm>
          <a:prstGeom prst="rect">
            <a:avLst/>
          </a:prstGeom>
          <a:solidFill>
            <a:srgbClr val="94B7BB">
              <a:lumMod val="20000"/>
              <a:lumOff val="8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4000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50000"/>
              </a:lnSpc>
              <a:buClr>
                <a:srgbClr val="002F43"/>
              </a:buClr>
              <a:defRPr/>
            </a:pPr>
            <a:r>
              <a:rPr lang="en-US" sz="750" dirty="0">
                <a:solidFill>
                  <a:srgbClr val="002F43"/>
                </a:solidFill>
                <a:latin typeface="Helvetica" pitchFamily="2" charset="0"/>
              </a:rPr>
              <a:t>Lenders prioritise downside protection, not long-term alignment</a:t>
            </a:r>
          </a:p>
          <a:p>
            <a:pPr defTabSz="1219170">
              <a:lnSpc>
                <a:spcPct val="150000"/>
              </a:lnSpc>
              <a:buClr>
                <a:srgbClr val="002F43"/>
              </a:buClr>
              <a:defRPr/>
            </a:pPr>
            <a:r>
              <a:rPr lang="en-US" sz="750" dirty="0">
                <a:solidFill>
                  <a:srgbClr val="002F43"/>
                </a:solidFill>
                <a:latin typeface="Helvetica" pitchFamily="2" charset="0"/>
              </a:rPr>
              <a:t>Control over asset-level interventions is limited</a:t>
            </a:r>
          </a:p>
        </p:txBody>
      </p:sp>
      <p:pic>
        <p:nvPicPr>
          <p:cNvPr id="115" name="Graphic 114" descr="Warning outline">
            <a:extLst>
              <a:ext uri="{FF2B5EF4-FFF2-40B4-BE49-F238E27FC236}">
                <a16:creationId xmlns:a16="http://schemas.microsoft.com/office/drawing/2014/main" id="{A7BA5476-F27F-E6AE-A733-889F920BA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16836" y="1664594"/>
            <a:ext cx="292124" cy="292124"/>
          </a:xfrm>
          <a:prstGeom prst="rect">
            <a:avLst/>
          </a:prstGeom>
        </p:spPr>
      </p:pic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DCFA0D0D-4E92-CC8C-FD49-3E8F826935C4}"/>
              </a:ext>
            </a:extLst>
          </p:cNvPr>
          <p:cNvSpPr txBox="1">
            <a:spLocks/>
          </p:cNvSpPr>
          <p:nvPr/>
        </p:nvSpPr>
        <p:spPr>
          <a:xfrm>
            <a:off x="1612793" y="6137624"/>
            <a:ext cx="5911376" cy="646007"/>
          </a:xfrm>
          <a:prstGeom prst="rect">
            <a:avLst/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400"/>
              </a:spcBef>
              <a:buClr>
                <a:srgbClr val="00007C"/>
              </a:buClr>
              <a:buAutoNum type="arabicPeriod"/>
            </a:pPr>
            <a:r>
              <a:rPr lang="en-GB" sz="1050">
                <a:solidFill>
                  <a:srgbClr val="023C65"/>
                </a:solidFill>
                <a:latin typeface="Helvetica" pitchFamily="2" charset="0"/>
              </a:rPr>
              <a:t>How are current reporting mechanisms failing at collecting complete data sets, and can you identify new engagement methods for the ESG team to collect a complete dataset?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58890F-341F-97CC-D3F0-408161D9FE8C}"/>
              </a:ext>
            </a:extLst>
          </p:cNvPr>
          <p:cNvSpPr/>
          <p:nvPr/>
        </p:nvSpPr>
        <p:spPr>
          <a:xfrm rot="5400000">
            <a:off x="7933422" y="6537578"/>
            <a:ext cx="131976" cy="45719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``````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2BBCE8-BB42-6A91-9C7C-A05F01E7F8A9}"/>
              </a:ext>
            </a:extLst>
          </p:cNvPr>
          <p:cNvGrpSpPr/>
          <p:nvPr/>
        </p:nvGrpSpPr>
        <p:grpSpPr>
          <a:xfrm rot="5400000">
            <a:off x="7987547" y="6088076"/>
            <a:ext cx="131976" cy="174720"/>
            <a:chOff x="5648226" y="594804"/>
            <a:chExt cx="131976" cy="174720"/>
          </a:xfrm>
          <a:solidFill>
            <a:srgbClr val="023C65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6829D9-2F0A-95C4-B98A-1398388F187D}"/>
                </a:ext>
              </a:extLst>
            </p:cNvPr>
            <p:cNvSpPr/>
            <p:nvPr/>
          </p:nvSpPr>
          <p:spPr>
            <a:xfrm>
              <a:off x="5648226" y="659005"/>
              <a:ext cx="131976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19790D2-B5E5-2940-88B9-34E7B1F2E01E}"/>
                </a:ext>
              </a:extLst>
            </p:cNvPr>
            <p:cNvSpPr/>
            <p:nvPr/>
          </p:nvSpPr>
          <p:spPr>
            <a:xfrm>
              <a:off x="5648226" y="723805"/>
              <a:ext cx="131976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452B44-A182-DAD3-3C92-6A0A2B788D0D}"/>
                </a:ext>
              </a:extLst>
            </p:cNvPr>
            <p:cNvSpPr/>
            <p:nvPr/>
          </p:nvSpPr>
          <p:spPr>
            <a:xfrm>
              <a:off x="5648226" y="594804"/>
              <a:ext cx="131976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CF5028D-6B8F-CFC1-52F7-F044766B1DF5}"/>
              </a:ext>
            </a:extLst>
          </p:cNvPr>
          <p:cNvGrpSpPr/>
          <p:nvPr/>
        </p:nvGrpSpPr>
        <p:grpSpPr>
          <a:xfrm rot="5400000">
            <a:off x="7959581" y="6312676"/>
            <a:ext cx="131976" cy="110519"/>
            <a:chOff x="5648226" y="659005"/>
            <a:chExt cx="131976" cy="110519"/>
          </a:xfrm>
          <a:solidFill>
            <a:srgbClr val="023C65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D5F66ED-57CC-1752-9135-F1FD531A96C9}"/>
                </a:ext>
              </a:extLst>
            </p:cNvPr>
            <p:cNvSpPr/>
            <p:nvPr/>
          </p:nvSpPr>
          <p:spPr>
            <a:xfrm>
              <a:off x="5648226" y="659005"/>
              <a:ext cx="131976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96F6C2B-4740-9FFD-E535-71A175E04F20}"/>
                </a:ext>
              </a:extLst>
            </p:cNvPr>
            <p:cNvSpPr/>
            <p:nvPr/>
          </p:nvSpPr>
          <p:spPr>
            <a:xfrm>
              <a:off x="5648226" y="723805"/>
              <a:ext cx="131976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8A416B1-7109-956C-FC0D-82E5C2CF0214}"/>
              </a:ext>
            </a:extLst>
          </p:cNvPr>
          <p:cNvSpPr/>
          <p:nvPr/>
        </p:nvSpPr>
        <p:spPr>
          <a:xfrm rot="5400000">
            <a:off x="8234193" y="5801393"/>
            <a:ext cx="516977" cy="61791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vert270" wrap="square" lIns="24000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buClr>
                <a:srgbClr val="002F43"/>
              </a:buClr>
              <a:defRPr/>
            </a:pPr>
            <a:r>
              <a:rPr lang="en-US" sz="1050">
                <a:solidFill>
                  <a:srgbClr val="002F43"/>
                </a:solidFill>
                <a:latin typeface="GT-Walsheim-Regular"/>
              </a:rPr>
              <a:t>HIGH</a:t>
            </a:r>
          </a:p>
          <a:p>
            <a:pPr defTabSz="1219170">
              <a:buClr>
                <a:srgbClr val="002F43"/>
              </a:buClr>
              <a:defRPr/>
            </a:pPr>
            <a:endParaRPr lang="en-US" sz="200">
              <a:solidFill>
                <a:srgbClr val="002F43"/>
              </a:solidFill>
              <a:latin typeface="GT-Walsheim-Regular"/>
            </a:endParaRPr>
          </a:p>
          <a:p>
            <a:pPr defTabSz="1219170">
              <a:buClr>
                <a:srgbClr val="002F43"/>
              </a:buClr>
              <a:defRPr/>
            </a:pPr>
            <a:r>
              <a:rPr lang="en-US" sz="1050">
                <a:solidFill>
                  <a:srgbClr val="002F43"/>
                </a:solidFill>
                <a:latin typeface="GT-Walsheim-Regular"/>
              </a:rPr>
              <a:t>MEDIUM</a:t>
            </a:r>
          </a:p>
          <a:p>
            <a:pPr defTabSz="1219170">
              <a:buClr>
                <a:srgbClr val="002F43"/>
              </a:buClr>
              <a:defRPr/>
            </a:pPr>
            <a:endParaRPr lang="en-US" sz="300">
              <a:solidFill>
                <a:srgbClr val="002F43"/>
              </a:solidFill>
              <a:latin typeface="GT-Walsheim-Regular"/>
            </a:endParaRPr>
          </a:p>
          <a:p>
            <a:pPr defTabSz="1219170">
              <a:buClr>
                <a:srgbClr val="002F43"/>
              </a:buClr>
              <a:defRPr/>
            </a:pPr>
            <a:r>
              <a:rPr lang="en-US" sz="1050">
                <a:solidFill>
                  <a:srgbClr val="002F43"/>
                </a:solidFill>
                <a:latin typeface="GT-Walsheim-Regular"/>
              </a:rPr>
              <a:t>LOW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B14E44-D2A0-AD89-F77F-828A2D74BEDB}"/>
              </a:ext>
            </a:extLst>
          </p:cNvPr>
          <p:cNvSpPr/>
          <p:nvPr/>
        </p:nvSpPr>
        <p:spPr>
          <a:xfrm rot="5400000">
            <a:off x="8177669" y="5278211"/>
            <a:ext cx="516977" cy="127747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vert270" wrap="square" lIns="24000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>
              <a:buClr>
                <a:srgbClr val="002F43"/>
              </a:buClr>
              <a:defRPr/>
            </a:pPr>
            <a:r>
              <a:rPr lang="en-US" sz="1050" b="1">
                <a:solidFill>
                  <a:srgbClr val="023C65"/>
                </a:solidFill>
                <a:latin typeface="Helvetica" pitchFamily="2" charset="0"/>
              </a:rPr>
              <a:t>Feasibility  Level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BEA3D4-684A-ECDC-8B78-B77E7A434580}"/>
              </a:ext>
            </a:extLst>
          </p:cNvPr>
          <p:cNvSpPr/>
          <p:nvPr/>
        </p:nvSpPr>
        <p:spPr>
          <a:xfrm rot="10800000">
            <a:off x="7836972" y="5858439"/>
            <a:ext cx="1202634" cy="833971"/>
          </a:xfrm>
          <a:prstGeom prst="rect">
            <a:avLst/>
          </a:prstGeom>
          <a:noFill/>
          <a:ln w="9525" cap="flat" cmpd="sng" algn="ctr">
            <a:solidFill>
              <a:srgbClr val="002F43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vert270" wrap="square" lIns="24000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>
              <a:buClr>
                <a:srgbClr val="002F43"/>
              </a:buClr>
              <a:defRPr/>
            </a:pPr>
            <a:endParaRPr lang="en-US" sz="1050">
              <a:solidFill>
                <a:srgbClr val="002F43"/>
              </a:solidFill>
              <a:latin typeface="GT-Walsheim-Regular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020754D-2AFC-A2E1-95E5-040B174577F9}"/>
              </a:ext>
            </a:extLst>
          </p:cNvPr>
          <p:cNvSpPr/>
          <p:nvPr/>
        </p:nvSpPr>
        <p:spPr>
          <a:xfrm rot="5400000">
            <a:off x="3855790" y="4874869"/>
            <a:ext cx="131976" cy="45719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itle 3">
            <a:extLst>
              <a:ext uri="{FF2B5EF4-FFF2-40B4-BE49-F238E27FC236}">
                <a16:creationId xmlns:a16="http://schemas.microsoft.com/office/drawing/2014/main" id="{DF14D1C8-0C7C-696A-457D-046349315BE1}"/>
              </a:ext>
            </a:extLst>
          </p:cNvPr>
          <p:cNvSpPr txBox="1">
            <a:spLocks/>
          </p:cNvSpPr>
          <p:nvPr/>
        </p:nvSpPr>
        <p:spPr>
          <a:xfrm>
            <a:off x="623392" y="507301"/>
            <a:ext cx="10753725" cy="218923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t" anchorCtr="0">
            <a:noAutofit/>
          </a:bodyPr>
          <a:lstStyle>
            <a:lvl1pPr algn="ctr" defTabSz="9905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950" b="0" i="0" kern="1200" cap="all" spc="457" baseline="0" noProof="0">
                <a:solidFill>
                  <a:schemeClr val="accent1"/>
                </a:solidFill>
                <a:latin typeface="FuturaTOTMed"/>
                <a:ea typeface="+mn-ea"/>
                <a:cs typeface="+mj-cs"/>
              </a:defRPr>
            </a:lvl1pPr>
          </a:lstStyle>
          <a:p>
            <a:pPr algn="l" defTabSz="990546">
              <a:defRPr/>
            </a:pPr>
            <a:r>
              <a:rPr lang="fr-FR" sz="1951" dirty="0">
                <a:solidFill>
                  <a:srgbClr val="023C65"/>
                </a:solidFill>
                <a:latin typeface="Helvetica" pitchFamily="2" charset="0"/>
              </a:rPr>
              <a:t>Engagement RecommEndations</a:t>
            </a:r>
            <a:endParaRPr lang="en-US" sz="1951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1E5886C-404E-2FD3-902C-3A64B843570D}"/>
              </a:ext>
            </a:extLst>
          </p:cNvPr>
          <p:cNvSpPr/>
          <p:nvPr/>
        </p:nvSpPr>
        <p:spPr>
          <a:xfrm rot="5400000">
            <a:off x="239565" y="572933"/>
            <a:ext cx="468000" cy="36000"/>
          </a:xfrm>
          <a:prstGeom prst="rect">
            <a:avLst/>
          </a:prstGeom>
          <a:solidFill>
            <a:srgbClr val="659E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fr-FR">
              <a:solidFill>
                <a:srgbClr val="659ECA"/>
              </a:solidFill>
              <a:latin typeface="FuturaTOT"/>
            </a:endParaRPr>
          </a:p>
        </p:txBody>
      </p:sp>
      <p:pic>
        <p:nvPicPr>
          <p:cNvPr id="75" name="Graphic 74" descr="Questions outline">
            <a:extLst>
              <a:ext uri="{FF2B5EF4-FFF2-40B4-BE49-F238E27FC236}">
                <a16:creationId xmlns:a16="http://schemas.microsoft.com/office/drawing/2014/main" id="{E09419BD-307E-6A7B-1C7C-36F65E8531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559" y="6102486"/>
            <a:ext cx="509483" cy="5094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7EBD13-E4CB-0AEB-A8A0-A39309DBDFD9}"/>
              </a:ext>
            </a:extLst>
          </p:cNvPr>
          <p:cNvSpPr/>
          <p:nvPr/>
        </p:nvSpPr>
        <p:spPr>
          <a:xfrm>
            <a:off x="1329700" y="2625437"/>
            <a:ext cx="2417346" cy="864000"/>
          </a:xfrm>
          <a:prstGeom prst="rect">
            <a:avLst/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bg1"/>
                </a:solidFill>
                <a:latin typeface="Helvetica" pitchFamily="2" charset="0"/>
              </a:rPr>
              <a:t>Near Miss Reporting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2FBDBE-6B5D-B5EA-9D24-E1BDEC02091B}"/>
              </a:ext>
            </a:extLst>
          </p:cNvPr>
          <p:cNvSpPr/>
          <p:nvPr/>
        </p:nvSpPr>
        <p:spPr>
          <a:xfrm>
            <a:off x="9433698" y="3230085"/>
            <a:ext cx="2197246" cy="166025"/>
          </a:xfrm>
          <a:prstGeom prst="rect">
            <a:avLst/>
          </a:prstGeom>
          <a:solidFill>
            <a:srgbClr val="659EC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r>
              <a:rPr lang="en-US" sz="800" kern="0">
                <a:solidFill>
                  <a:srgbClr val="FFFFFF"/>
                </a:solidFill>
                <a:latin typeface="Helvetica" pitchFamily="2" charset="0"/>
              </a:rPr>
              <a:t>Enhanced Borrower Due Diligence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6DA7D3-64F3-1D90-23B8-B3516FC13FFB}"/>
              </a:ext>
            </a:extLst>
          </p:cNvPr>
          <p:cNvSpPr/>
          <p:nvPr/>
        </p:nvSpPr>
        <p:spPr>
          <a:xfrm>
            <a:off x="9040399" y="3472244"/>
            <a:ext cx="3062785" cy="705627"/>
          </a:xfrm>
          <a:prstGeom prst="rect">
            <a:avLst/>
          </a:prstGeom>
          <a:solidFill>
            <a:srgbClr val="94B7BB">
              <a:lumMod val="20000"/>
              <a:lumOff val="8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4000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50000"/>
              </a:lnSpc>
              <a:buClr>
                <a:srgbClr val="002F43"/>
              </a:buClr>
              <a:defRPr/>
            </a:pPr>
            <a:r>
              <a:rPr lang="en-US" sz="700" i="1">
                <a:solidFill>
                  <a:srgbClr val="002F43"/>
                </a:solidFill>
                <a:latin typeface="Helvetica" pitchFamily="2" charset="0"/>
              </a:rPr>
              <a:t>(Refines Data Collection)</a:t>
            </a:r>
          </a:p>
          <a:p>
            <a:pPr defTabSz="1219170">
              <a:lnSpc>
                <a:spcPct val="150000"/>
              </a:lnSpc>
              <a:buClr>
                <a:srgbClr val="002F43"/>
              </a:buClr>
              <a:defRPr/>
            </a:pPr>
            <a:endParaRPr lang="en-US" sz="200" i="1">
              <a:solidFill>
                <a:srgbClr val="002F43"/>
              </a:solidFill>
              <a:latin typeface="Helvetica" pitchFamily="2" charset="0"/>
            </a:endParaRPr>
          </a:p>
          <a:p>
            <a:pPr defTabSz="1219170">
              <a:lnSpc>
                <a:spcPct val="150000"/>
              </a:lnSpc>
              <a:buClr>
                <a:srgbClr val="002F43"/>
              </a:buClr>
              <a:defRPr/>
            </a:pPr>
            <a:r>
              <a:rPr lang="en-US" sz="900">
                <a:solidFill>
                  <a:srgbClr val="002F43"/>
                </a:solidFill>
                <a:latin typeface="Helvetica" pitchFamily="2" charset="0"/>
              </a:rPr>
              <a:t>Accurate safety data becomes part of underwriting and risk pricing. This shifts data responsibility to borrowers via term sheets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10DC92-7636-AA42-4315-9DCCCF254AE7}"/>
              </a:ext>
            </a:extLst>
          </p:cNvPr>
          <p:cNvSpPr/>
          <p:nvPr/>
        </p:nvSpPr>
        <p:spPr>
          <a:xfrm>
            <a:off x="9433698" y="4373465"/>
            <a:ext cx="2197247" cy="163347"/>
          </a:xfrm>
          <a:prstGeom prst="rect">
            <a:avLst/>
          </a:prstGeom>
          <a:solidFill>
            <a:srgbClr val="659EC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r>
              <a:rPr lang="en-US" sz="800" kern="0">
                <a:solidFill>
                  <a:srgbClr val="FFFFFF"/>
                </a:solidFill>
                <a:latin typeface="Helvetica" pitchFamily="2" charset="0"/>
              </a:rPr>
              <a:t>Loan Structuring with Performance Triggers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F46AB6-D6E3-FF24-E68E-EB96ACFC848D}"/>
              </a:ext>
            </a:extLst>
          </p:cNvPr>
          <p:cNvSpPr/>
          <p:nvPr/>
        </p:nvSpPr>
        <p:spPr>
          <a:xfrm>
            <a:off x="9093113" y="4610903"/>
            <a:ext cx="2822835" cy="705627"/>
          </a:xfrm>
          <a:prstGeom prst="rect">
            <a:avLst/>
          </a:prstGeom>
          <a:solidFill>
            <a:srgbClr val="94B7BB">
              <a:lumMod val="20000"/>
              <a:lumOff val="8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4000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50000"/>
              </a:lnSpc>
              <a:buClr>
                <a:srgbClr val="002F43"/>
              </a:buClr>
              <a:defRPr/>
            </a:pPr>
            <a:r>
              <a:rPr lang="en-US" sz="700" i="1">
                <a:solidFill>
                  <a:srgbClr val="002F43"/>
                </a:solidFill>
                <a:latin typeface="Helvetica" pitchFamily="2" charset="0"/>
              </a:rPr>
              <a:t>(New Tool)</a:t>
            </a:r>
            <a:endParaRPr lang="en-US" sz="200" i="1">
              <a:solidFill>
                <a:srgbClr val="002F43"/>
              </a:solidFill>
              <a:latin typeface="Helvetica" pitchFamily="2" charset="0"/>
            </a:endParaRPr>
          </a:p>
          <a:p>
            <a:pPr defTabSz="1219170">
              <a:lnSpc>
                <a:spcPct val="150000"/>
              </a:lnSpc>
              <a:buClr>
                <a:srgbClr val="002F43"/>
              </a:buClr>
              <a:defRPr/>
            </a:pPr>
            <a:r>
              <a:rPr lang="en-US" sz="900">
                <a:solidFill>
                  <a:srgbClr val="002F43"/>
                </a:solidFill>
                <a:latin typeface="Helvetica" pitchFamily="2" charset="0"/>
              </a:rPr>
              <a:t>Use margin ratchets or capex reserves tied to Safety Performance or OSHA Benchmarks improvements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D48280BF-0FC7-7C78-E2B7-365BBAA4D113}"/>
              </a:ext>
            </a:extLst>
          </p:cNvPr>
          <p:cNvSpPr/>
          <p:nvPr/>
        </p:nvSpPr>
        <p:spPr>
          <a:xfrm>
            <a:off x="771317" y="1917131"/>
            <a:ext cx="360000" cy="360000"/>
          </a:xfrm>
          <a:prstGeom prst="diamond">
            <a:avLst/>
          </a:prstGeom>
          <a:solidFill>
            <a:srgbClr val="00FF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rgbClr val="023C65"/>
                </a:solidFill>
              </a:rPr>
              <a:t>1</a:t>
            </a:r>
            <a:endParaRPr lang="en-GB" sz="1200">
              <a:solidFill>
                <a:srgbClr val="023C65"/>
              </a:solidFill>
            </a:endParaRP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992F76D6-603F-DC65-CAF9-01FD9D79E421}"/>
              </a:ext>
            </a:extLst>
          </p:cNvPr>
          <p:cNvSpPr/>
          <p:nvPr/>
        </p:nvSpPr>
        <p:spPr>
          <a:xfrm>
            <a:off x="763113" y="2883724"/>
            <a:ext cx="360000" cy="360000"/>
          </a:xfrm>
          <a:prstGeom prst="diamond">
            <a:avLst/>
          </a:prstGeom>
          <a:solidFill>
            <a:srgbClr val="00FF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rgbClr val="023C65"/>
                </a:solidFill>
              </a:rPr>
              <a:t>2</a:t>
            </a:r>
            <a:endParaRPr lang="en-GB" sz="1200">
              <a:solidFill>
                <a:srgbClr val="023C65"/>
              </a:solidFill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3B022ACA-D9D4-79EF-12DB-3BB159877BD4}"/>
              </a:ext>
            </a:extLst>
          </p:cNvPr>
          <p:cNvSpPr/>
          <p:nvPr/>
        </p:nvSpPr>
        <p:spPr>
          <a:xfrm>
            <a:off x="763113" y="3817852"/>
            <a:ext cx="360000" cy="360000"/>
          </a:xfrm>
          <a:prstGeom prst="diamond">
            <a:avLst/>
          </a:prstGeom>
          <a:solidFill>
            <a:srgbClr val="00FF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rgbClr val="023C65"/>
                </a:solidFill>
              </a:rPr>
              <a:t>3</a:t>
            </a:r>
            <a:endParaRPr lang="en-GB" sz="1200">
              <a:solidFill>
                <a:srgbClr val="023C65"/>
              </a:solidFill>
            </a:endParaRP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873D0B70-79F6-47F3-1FA2-16A706B53E36}"/>
              </a:ext>
            </a:extLst>
          </p:cNvPr>
          <p:cNvSpPr/>
          <p:nvPr/>
        </p:nvSpPr>
        <p:spPr>
          <a:xfrm>
            <a:off x="763113" y="4812569"/>
            <a:ext cx="360000" cy="360000"/>
          </a:xfrm>
          <a:prstGeom prst="diamond">
            <a:avLst/>
          </a:prstGeom>
          <a:solidFill>
            <a:srgbClr val="00FF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rgbClr val="023C65"/>
                </a:solidFill>
              </a:rPr>
              <a:t>4</a:t>
            </a:r>
            <a:endParaRPr lang="en-GB" sz="1200">
              <a:solidFill>
                <a:srgbClr val="023C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40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9E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DD4CCD2-88F7-1A95-3C9C-ABF41B3793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1152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D4CCD2-88F7-1A95-3C9C-ABF41B3793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5540288-FABA-6F2F-86D8-CFF905CAA1AA}"/>
              </a:ext>
            </a:extLst>
          </p:cNvPr>
          <p:cNvSpPr/>
          <p:nvPr/>
        </p:nvSpPr>
        <p:spPr>
          <a:xfrm>
            <a:off x="4724400" y="2110850"/>
            <a:ext cx="5313680" cy="2462213"/>
          </a:xfrm>
          <a:prstGeom prst="roundRect">
            <a:avLst/>
          </a:prstGeom>
          <a:solidFill>
            <a:srgbClr val="93B9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4E27D5-E25A-017F-DE5A-526E0C4212D7}"/>
              </a:ext>
            </a:extLst>
          </p:cNvPr>
          <p:cNvSpPr txBox="1"/>
          <p:nvPr/>
        </p:nvSpPr>
        <p:spPr>
          <a:xfrm>
            <a:off x="878870" y="1628060"/>
            <a:ext cx="315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nunito" pitchFamily="2" charset="0"/>
              </a:rPr>
              <a:t>Contact Information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AD938D-8AB8-DCCF-7B34-1A3544D37500}"/>
              </a:ext>
            </a:extLst>
          </p:cNvPr>
          <p:cNvSpPr txBox="1"/>
          <p:nvPr/>
        </p:nvSpPr>
        <p:spPr>
          <a:xfrm>
            <a:off x="969640" y="2110850"/>
            <a:ext cx="3549486" cy="2462213"/>
          </a:xfrm>
          <a:prstGeom prst="rect">
            <a:avLst/>
          </a:prstGeom>
          <a:solidFill>
            <a:srgbClr val="659ECA"/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sz="1400">
                <a:solidFill>
                  <a:schemeClr val="bg1"/>
                </a:solidFill>
                <a:latin typeface="nunito" pitchFamily="2" charset="0"/>
              </a:rPr>
              <a:t>        	5 Wilton Road</a:t>
            </a:r>
          </a:p>
          <a:p>
            <a:pPr algn="l"/>
            <a:r>
              <a:rPr lang="en-GB" sz="1400">
                <a:solidFill>
                  <a:schemeClr val="bg1"/>
                </a:solidFill>
                <a:latin typeface="nunito" pitchFamily="2" charset="0"/>
              </a:rPr>
              <a:t>	London, SW1V 1AN</a:t>
            </a:r>
          </a:p>
          <a:p>
            <a:pPr algn="l"/>
            <a:r>
              <a:rPr lang="en-GB" sz="1400">
                <a:solidFill>
                  <a:schemeClr val="bg1"/>
                </a:solidFill>
                <a:latin typeface="nunito" pitchFamily="2" charset="0"/>
              </a:rPr>
              <a:t>	United Kingdom </a:t>
            </a:r>
          </a:p>
          <a:p>
            <a:pPr algn="l"/>
            <a:endParaRPr lang="en-GB" sz="1400">
              <a:solidFill>
                <a:schemeClr val="bg1"/>
              </a:solidFill>
              <a:latin typeface="nunito" pitchFamily="2" charset="0"/>
            </a:endParaRPr>
          </a:p>
          <a:p>
            <a:pPr algn="l"/>
            <a:r>
              <a:rPr lang="en-GB" sz="1400">
                <a:solidFill>
                  <a:schemeClr val="bg1"/>
                </a:solidFill>
                <a:latin typeface="nunito" pitchFamily="2" charset="0"/>
                <a:sym typeface="Wingdings" pitchFamily="2" charset="2"/>
              </a:rPr>
              <a:t></a:t>
            </a:r>
            <a:r>
              <a:rPr lang="en-GB" sz="1400">
                <a:solidFill>
                  <a:schemeClr val="bg1"/>
                </a:solidFill>
                <a:latin typeface="nunito" pitchFamily="2" charset="0"/>
              </a:rPr>
              <a:t>   	</a:t>
            </a:r>
            <a:r>
              <a:rPr lang="en-GB" sz="1400" u="sng">
                <a:solidFill>
                  <a:schemeClr val="bg1"/>
                </a:solidFill>
                <a:latin typeface="nunito" pitchFamily="2" charset="0"/>
              </a:rPr>
              <a:t>irgroup</a:t>
            </a:r>
            <a:r>
              <a:rPr lang="en-GB" sz="1400" u="sng">
                <a:solidFill>
                  <a:schemeClr val="bg1"/>
                </a:solidFill>
                <a:latin typeface="nunito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@global-infra.co</a:t>
            </a:r>
            <a:r>
              <a:rPr lang="en-GB" sz="1400" u="sng">
                <a:solidFill>
                  <a:schemeClr val="bg1"/>
                </a:solidFill>
                <a:latin typeface="nunito" pitchFamily="2" charset="0"/>
              </a:rPr>
              <a:t>m</a:t>
            </a:r>
          </a:p>
          <a:p>
            <a:pPr algn="l"/>
            <a:endParaRPr lang="en-GB" sz="1400">
              <a:solidFill>
                <a:schemeClr val="bg1"/>
              </a:solidFill>
              <a:latin typeface="nunito" pitchFamily="2" charset="0"/>
            </a:endParaRPr>
          </a:p>
          <a:p>
            <a:pPr algn="l"/>
            <a:endParaRPr lang="en-GB" sz="1400">
              <a:solidFill>
                <a:schemeClr val="bg1"/>
              </a:solidFill>
              <a:latin typeface="nunito" pitchFamily="2" charset="0"/>
            </a:endParaRPr>
          </a:p>
          <a:p>
            <a:pPr marL="285750" indent="-285750" algn="l">
              <a:buFont typeface="Wingdings 2" pitchFamily="2" charset="2"/>
              <a:buChar char="'"/>
            </a:pPr>
            <a:r>
              <a:rPr lang="en-GB" sz="1400">
                <a:solidFill>
                  <a:schemeClr val="bg1"/>
                </a:solidFill>
                <a:latin typeface="nunito" pitchFamily="2" charset="0"/>
              </a:rPr>
              <a:t>  	+44 20 7798 0400</a:t>
            </a:r>
          </a:p>
          <a:p>
            <a:pPr algn="l"/>
            <a:endParaRPr lang="en-GB" sz="1400">
              <a:solidFill>
                <a:schemeClr val="bg1"/>
              </a:solidFill>
              <a:latin typeface="nunito" pitchFamily="2" charset="0"/>
            </a:endParaRPr>
          </a:p>
          <a:p>
            <a:pPr algn="l"/>
            <a:endParaRPr lang="en-GB" sz="1400">
              <a:solidFill>
                <a:schemeClr val="bg1"/>
              </a:solidFill>
              <a:latin typeface="nunito" pitchFamily="2" charset="0"/>
            </a:endParaRPr>
          </a:p>
          <a:p>
            <a:pPr algn="l"/>
            <a:r>
              <a:rPr lang="en-GB" sz="1400">
                <a:solidFill>
                  <a:schemeClr val="bg1"/>
                </a:solidFill>
                <a:latin typeface="nunito" pitchFamily="2" charset="0"/>
              </a:rPr>
              <a:t>        	</a:t>
            </a:r>
            <a:r>
              <a:rPr lang="en-US" sz="1400">
                <a:solidFill>
                  <a:schemeClr val="bg1"/>
                </a:solidFill>
                <a:latin typeface="nunito" pitchFamily="2" charset="0"/>
              </a:rPr>
              <a:t>https://www.global-infra.com</a:t>
            </a:r>
          </a:p>
        </p:txBody>
      </p:sp>
      <p:pic>
        <p:nvPicPr>
          <p:cNvPr id="5" name="Graphic 4" descr="Marker outline">
            <a:extLst>
              <a:ext uri="{FF2B5EF4-FFF2-40B4-BE49-F238E27FC236}">
                <a16:creationId xmlns:a16="http://schemas.microsoft.com/office/drawing/2014/main" id="{B32DAFAD-897C-FE0E-E9BF-1964EF3C4D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50" y="2093921"/>
            <a:ext cx="312825" cy="312825"/>
          </a:xfrm>
          <a:prstGeom prst="rect">
            <a:avLst/>
          </a:prstGeom>
        </p:spPr>
      </p:pic>
      <p:pic>
        <p:nvPicPr>
          <p:cNvPr id="8" name="Graphic 7" descr="Internet outline">
            <a:extLst>
              <a:ext uri="{FF2B5EF4-FFF2-40B4-BE49-F238E27FC236}">
                <a16:creationId xmlns:a16="http://schemas.microsoft.com/office/drawing/2014/main" id="{7DF52F5C-909F-2592-6394-030287D5A3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9585" y="4278366"/>
            <a:ext cx="264553" cy="2645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5F6773-8B9D-A10C-9191-54ABB283A00F}"/>
              </a:ext>
            </a:extLst>
          </p:cNvPr>
          <p:cNvSpPr txBox="1"/>
          <p:nvPr/>
        </p:nvSpPr>
        <p:spPr>
          <a:xfrm>
            <a:off x="4910438" y="2654664"/>
            <a:ext cx="31575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rgbClr val="F4F4F4"/>
                </a:solidFill>
                <a:latin typeface="Helvetica" pitchFamily="2" charset="0"/>
              </a:rPr>
              <a:t>At a glance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C4329A-2B56-EF9A-778C-4256892419A8}"/>
              </a:ext>
            </a:extLst>
          </p:cNvPr>
          <p:cNvSpPr txBox="1"/>
          <p:nvPr/>
        </p:nvSpPr>
        <p:spPr>
          <a:xfrm>
            <a:off x="6489215" y="2614473"/>
            <a:ext cx="31575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rPr>
              <a:t>$170 </a:t>
            </a:r>
            <a:r>
              <a:rPr lang="en-GB" sz="2000" b="1">
                <a:solidFill>
                  <a:srgbClr val="F4F4F4"/>
                </a:solidFill>
                <a:latin typeface=""/>
              </a:rPr>
              <a:t>bn+</a:t>
            </a:r>
          </a:p>
          <a:p>
            <a:endParaRPr lang="en-US" sz="700" i="1">
              <a:solidFill>
                <a:srgbClr val="F4F4F4"/>
              </a:solidFill>
              <a:latin typeface=""/>
            </a:endParaRPr>
          </a:p>
          <a:p>
            <a:r>
              <a:rPr lang="en-US" sz="700" i="1">
                <a:solidFill>
                  <a:srgbClr val="F4F4F4"/>
                </a:solidFill>
                <a:latin typeface=""/>
              </a:rPr>
              <a:t>In assets under management</a:t>
            </a:r>
            <a:endParaRPr lang="en-GB" sz="700">
              <a:solidFill>
                <a:srgbClr val="F4F4F4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050007-EA25-1A72-48CE-78C16EA9E8BA}"/>
              </a:ext>
            </a:extLst>
          </p:cNvPr>
          <p:cNvSpPr txBox="1"/>
          <p:nvPr/>
        </p:nvSpPr>
        <p:spPr>
          <a:xfrm>
            <a:off x="8525757" y="2614472"/>
            <a:ext cx="31575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rgbClr val="F4F4F4"/>
                </a:solidFill>
                <a:latin typeface=""/>
              </a:rPr>
              <a:t>80</a:t>
            </a:r>
          </a:p>
          <a:p>
            <a:endParaRPr lang="en-US" sz="700" i="1">
              <a:solidFill>
                <a:srgbClr val="F4F4F4"/>
              </a:solidFill>
              <a:latin typeface=""/>
            </a:endParaRPr>
          </a:p>
          <a:p>
            <a:r>
              <a:rPr lang="en-US" sz="700" i="1">
                <a:solidFill>
                  <a:srgbClr val="F4F4F4"/>
                </a:solidFill>
                <a:latin typeface=""/>
              </a:rPr>
              <a:t>Equity portcos</a:t>
            </a:r>
            <a:endParaRPr lang="en-GB" sz="700">
              <a:solidFill>
                <a:srgbClr val="F4F4F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2CFB57-D4A9-F916-1D70-494C0A81361E}"/>
              </a:ext>
            </a:extLst>
          </p:cNvPr>
          <p:cNvSpPr txBox="1"/>
          <p:nvPr/>
        </p:nvSpPr>
        <p:spPr>
          <a:xfrm>
            <a:off x="6489215" y="3557400"/>
            <a:ext cx="31575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rgbClr val="F4F4F4"/>
                </a:solidFill>
                <a:latin typeface=""/>
              </a:rPr>
              <a:t>127,000</a:t>
            </a:r>
          </a:p>
          <a:p>
            <a:endParaRPr lang="en-US" sz="700" i="1">
              <a:solidFill>
                <a:srgbClr val="F4F4F4"/>
              </a:solidFill>
              <a:latin typeface=""/>
            </a:endParaRPr>
          </a:p>
          <a:p>
            <a:r>
              <a:rPr lang="en-US" sz="700" i="1">
                <a:solidFill>
                  <a:srgbClr val="F4F4F4"/>
                </a:solidFill>
                <a:latin typeface=""/>
              </a:rPr>
              <a:t>People employed in equity portfolio</a:t>
            </a:r>
            <a:endParaRPr lang="en-GB" sz="700">
              <a:solidFill>
                <a:srgbClr val="F4F4F4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DAF9DA-5412-32A2-0618-9856DC9EF594}"/>
              </a:ext>
            </a:extLst>
          </p:cNvPr>
          <p:cNvSpPr/>
          <p:nvPr/>
        </p:nvSpPr>
        <p:spPr>
          <a:xfrm>
            <a:off x="713498" y="794843"/>
            <a:ext cx="236929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fr-FR">
              <a:solidFill>
                <a:prstClr val="white"/>
              </a:solidFill>
              <a:latin typeface="FuturaTOT"/>
            </a:endParaRP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74BC04A4-8BB6-0BA5-8607-34C8D1E2FBD7}"/>
              </a:ext>
            </a:extLst>
          </p:cNvPr>
          <p:cNvSpPr txBox="1">
            <a:spLocks/>
          </p:cNvSpPr>
          <p:nvPr/>
        </p:nvSpPr>
        <p:spPr>
          <a:xfrm>
            <a:off x="713498" y="401765"/>
            <a:ext cx="10665703" cy="2189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 defTabSz="9905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950" b="0" i="0" kern="1200" cap="all" spc="457" baseline="0" noProof="0">
                <a:solidFill>
                  <a:schemeClr val="accent1"/>
                </a:solidFill>
                <a:latin typeface="FuturaTOTMed"/>
                <a:ea typeface="+mn-ea"/>
                <a:cs typeface="+mj-cs"/>
              </a:defRPr>
            </a:lvl1pPr>
          </a:lstStyle>
          <a:p>
            <a:pPr algn="l" defTabSz="990570"/>
            <a:r>
              <a:rPr lang="en-US" sz="1951">
                <a:solidFill>
                  <a:schemeClr val="bg1"/>
                </a:solidFill>
                <a:latin typeface="Helvetica" pitchFamily="2" charset="0"/>
              </a:rPr>
              <a:t>ABOUT </a:t>
            </a:r>
            <a:r>
              <a:rPr lang="en-US" sz="1951" cap="none">
                <a:solidFill>
                  <a:schemeClr val="bg1"/>
                </a:solidFill>
                <a:latin typeface="Helvetica" pitchFamily="2" charset="0"/>
              </a:rPr>
              <a:t>GLOBAL INFRASTRUCTURE PARTNERS</a:t>
            </a:r>
            <a:endParaRPr lang="en-US" sz="1951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32B2AF-9D57-69A1-4526-85286E3A86BA}"/>
              </a:ext>
            </a:extLst>
          </p:cNvPr>
          <p:cNvSpPr txBox="1"/>
          <p:nvPr/>
        </p:nvSpPr>
        <p:spPr>
          <a:xfrm>
            <a:off x="8525756" y="3583439"/>
            <a:ext cx="31575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rgbClr val="F4F4F4"/>
                </a:solidFill>
                <a:latin typeface=""/>
              </a:rPr>
              <a:t>170+</a:t>
            </a:r>
          </a:p>
          <a:p>
            <a:endParaRPr lang="en-US" sz="700" i="1">
              <a:solidFill>
                <a:srgbClr val="F4F4F4"/>
              </a:solidFill>
              <a:latin typeface=""/>
            </a:endParaRPr>
          </a:p>
          <a:p>
            <a:r>
              <a:rPr lang="en-US" sz="700" i="1">
                <a:solidFill>
                  <a:srgbClr val="F4F4F4"/>
                </a:solidFill>
                <a:latin typeface=""/>
              </a:rPr>
              <a:t>Credit investments</a:t>
            </a:r>
            <a:endParaRPr lang="en-GB" sz="700">
              <a:solidFill>
                <a:srgbClr val="F4F4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789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71D0-2B6F-5257-4266-C43585D7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6200100-F377-9297-08F4-148A5562B41F}"/>
              </a:ext>
            </a:extLst>
          </p:cNvPr>
          <p:cNvSpPr/>
          <p:nvPr/>
        </p:nvSpPr>
        <p:spPr>
          <a:xfrm>
            <a:off x="6698700" y="5241227"/>
            <a:ext cx="4795937" cy="991406"/>
          </a:xfrm>
          <a:prstGeom prst="rect">
            <a:avLst/>
          </a:prstGeom>
          <a:solidFill>
            <a:srgbClr val="F9F9F9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632">
              <a:defRPr/>
            </a:pPr>
            <a:endParaRPr lang="fr-FR" sz="1000">
              <a:solidFill>
                <a:prstClr val="white"/>
              </a:solidFill>
              <a:latin typeface="FuturaTOT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39B36C-4213-A83B-4E95-6AD31B9ACBCA}"/>
              </a:ext>
            </a:extLst>
          </p:cNvPr>
          <p:cNvSpPr/>
          <p:nvPr/>
        </p:nvSpPr>
        <p:spPr>
          <a:xfrm>
            <a:off x="6777341" y="5335774"/>
            <a:ext cx="4599776" cy="816654"/>
          </a:xfrm>
          <a:prstGeom prst="roundRect">
            <a:avLst/>
          </a:prstGeom>
          <a:solidFill>
            <a:schemeClr val="bg1"/>
          </a:solidFill>
          <a:ln w="6350">
            <a:solidFill>
              <a:srgbClr val="00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&amp; Portfolio Impact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5CFB41-54F7-BC4C-7019-B4C39A7DE394}"/>
              </a:ext>
            </a:extLst>
          </p:cNvPr>
          <p:cNvSpPr/>
          <p:nvPr/>
        </p:nvSpPr>
        <p:spPr>
          <a:xfrm>
            <a:off x="6698707" y="1712263"/>
            <a:ext cx="4795937" cy="1201397"/>
          </a:xfrm>
          <a:prstGeom prst="rect">
            <a:avLst/>
          </a:prstGeom>
          <a:solidFill>
            <a:srgbClr val="F9F9F9"/>
          </a:solidFill>
          <a:ln w="9525">
            <a:solidFill>
              <a:srgbClr val="659E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632">
              <a:defRPr/>
            </a:pPr>
            <a:endParaRPr lang="fr-FR" sz="1000">
              <a:solidFill>
                <a:prstClr val="white"/>
              </a:solidFill>
              <a:latin typeface="FuturaTOT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CE74875-C16A-FF3F-960E-08D04A7F079E}"/>
              </a:ext>
            </a:extLst>
          </p:cNvPr>
          <p:cNvSpPr/>
          <p:nvPr/>
        </p:nvSpPr>
        <p:spPr>
          <a:xfrm>
            <a:off x="7219448" y="1838912"/>
            <a:ext cx="4157669" cy="420510"/>
          </a:xfrm>
          <a:prstGeom prst="roundRect">
            <a:avLst/>
          </a:prstGeom>
          <a:solidFill>
            <a:schemeClr val="bg1"/>
          </a:solidFill>
          <a:ln w="6350">
            <a:solidFill>
              <a:srgbClr val="00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&amp; Portfolio Impact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EFA223E-1979-B40C-F8A2-B2B864439759}"/>
              </a:ext>
            </a:extLst>
          </p:cNvPr>
          <p:cNvSpPr/>
          <p:nvPr/>
        </p:nvSpPr>
        <p:spPr>
          <a:xfrm>
            <a:off x="7219448" y="2395237"/>
            <a:ext cx="4157669" cy="420510"/>
          </a:xfrm>
          <a:prstGeom prst="roundRect">
            <a:avLst/>
          </a:prstGeom>
          <a:solidFill>
            <a:schemeClr val="bg1"/>
          </a:solidFill>
          <a:ln w="6350">
            <a:solidFill>
              <a:srgbClr val="0000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&amp; Portfolio Impact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8FB013-3BEA-9794-6D0C-36E1353ADB22}"/>
              </a:ext>
            </a:extLst>
          </p:cNvPr>
          <p:cNvSpPr/>
          <p:nvPr/>
        </p:nvSpPr>
        <p:spPr>
          <a:xfrm>
            <a:off x="650295" y="1528930"/>
            <a:ext cx="4980377" cy="4821769"/>
          </a:xfrm>
          <a:prstGeom prst="rect">
            <a:avLst/>
          </a:prstGeom>
          <a:solidFill>
            <a:srgbClr val="F2F2F2">
              <a:alpha val="29412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endParaRPr lang="en-GB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7A98D71-6E83-A9D8-45E8-C52F38CF0461}"/>
              </a:ext>
            </a:extLst>
          </p:cNvPr>
          <p:cNvCxnSpPr>
            <a:cxnSpLocks/>
          </p:cNvCxnSpPr>
          <p:nvPr/>
        </p:nvCxnSpPr>
        <p:spPr>
          <a:xfrm>
            <a:off x="6336978" y="1229710"/>
            <a:ext cx="0" cy="5002924"/>
          </a:xfrm>
          <a:prstGeom prst="line">
            <a:avLst/>
          </a:prstGeom>
          <a:ln w="19050">
            <a:solidFill>
              <a:srgbClr val="023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85E74802-5F5D-4C24-3D85-765BC5A126D7}"/>
              </a:ext>
            </a:extLst>
          </p:cNvPr>
          <p:cNvSpPr/>
          <p:nvPr/>
        </p:nvSpPr>
        <p:spPr>
          <a:xfrm rot="10800000">
            <a:off x="6233897" y="2183437"/>
            <a:ext cx="284725" cy="45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DC9A78A0-D989-394B-05E6-18492EBC325C}"/>
              </a:ext>
            </a:extLst>
          </p:cNvPr>
          <p:cNvSpPr txBox="1">
            <a:spLocks/>
          </p:cNvSpPr>
          <p:nvPr/>
        </p:nvSpPr>
        <p:spPr>
          <a:xfrm>
            <a:off x="623392" y="507301"/>
            <a:ext cx="10753725" cy="2189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 defTabSz="9905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1950" b="0" i="0" kern="1200" cap="all" spc="457" baseline="0" noProof="0">
                <a:solidFill>
                  <a:schemeClr val="accent1"/>
                </a:solidFill>
                <a:latin typeface="FuturaTOTMed"/>
                <a:ea typeface="+mn-ea"/>
                <a:cs typeface="+mj-cs"/>
              </a:defRPr>
            </a:lvl1pPr>
          </a:lstStyle>
          <a:p>
            <a:pPr algn="l" defTabSz="990546">
              <a:defRPr/>
            </a:pPr>
            <a:r>
              <a:rPr lang="fr-FR" sz="2000" dirty="0">
                <a:solidFill>
                  <a:srgbClr val="023C65"/>
                </a:solidFill>
                <a:latin typeface="Helvetica" pitchFamily="2" charset="0"/>
              </a:rPr>
              <a:t>Risk and </a:t>
            </a:r>
            <a:r>
              <a:rPr lang="fr-FR" sz="2000" dirty="0" err="1">
                <a:solidFill>
                  <a:srgbClr val="023C65"/>
                </a:solidFill>
                <a:latin typeface="Helvetica" pitchFamily="2" charset="0"/>
              </a:rPr>
              <a:t>opportunity</a:t>
            </a:r>
            <a:r>
              <a:rPr lang="fr-FR" sz="2000" dirty="0">
                <a:solidFill>
                  <a:srgbClr val="023C65"/>
                </a:solidFill>
                <a:latin typeface="Helvetica" pitchFamily="2" charset="0"/>
              </a:rPr>
              <a:t> - REDUCTION REQUIRED</a:t>
            </a:r>
            <a:endParaRPr lang="en-US" sz="2000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DBE6F-D0D4-1B89-B61C-3D46C056DB63}"/>
              </a:ext>
            </a:extLst>
          </p:cNvPr>
          <p:cNvSpPr/>
          <p:nvPr/>
        </p:nvSpPr>
        <p:spPr>
          <a:xfrm rot="5400000">
            <a:off x="239565" y="572933"/>
            <a:ext cx="468000" cy="36000"/>
          </a:xfrm>
          <a:prstGeom prst="rect">
            <a:avLst/>
          </a:prstGeom>
          <a:solidFill>
            <a:srgbClr val="659E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fr-FR">
              <a:solidFill>
                <a:prstClr val="white"/>
              </a:solidFill>
              <a:highlight>
                <a:srgbClr val="017180"/>
              </a:highlight>
              <a:latin typeface="FuturaTO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32779E-BA9A-579E-990A-B90038D0A605}"/>
              </a:ext>
            </a:extLst>
          </p:cNvPr>
          <p:cNvSpPr/>
          <p:nvPr/>
        </p:nvSpPr>
        <p:spPr>
          <a:xfrm>
            <a:off x="1749052" y="4664802"/>
            <a:ext cx="3404448" cy="76800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48000" tIns="48000" rIns="48000" bIns="48000" rtlCol="0" anchor="t"/>
          <a:lstStyle/>
          <a:p>
            <a:pPr defTabSz="1219170">
              <a:defRPr/>
            </a:pPr>
            <a:endParaRPr lang="en-US" sz="1333" kern="0">
              <a:solidFill>
                <a:srgbClr val="323C46"/>
              </a:solidFill>
              <a:latin typeface="FuturaTO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2A8E4A-C725-7C40-1C53-BA773E797E88}"/>
              </a:ext>
            </a:extLst>
          </p:cNvPr>
          <p:cNvSpPr/>
          <p:nvPr/>
        </p:nvSpPr>
        <p:spPr>
          <a:xfrm>
            <a:off x="697342" y="1140432"/>
            <a:ext cx="5922348" cy="32582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r>
              <a:rPr lang="en-US" sz="1200" b="1" kern="0" dirty="0">
                <a:solidFill>
                  <a:srgbClr val="023C65"/>
                </a:solidFill>
                <a:latin typeface="Helvetica" pitchFamily="2" charset="0"/>
              </a:rPr>
              <a:t>CRREM 2030 Shortfall – Required  Energy and Emissions Reduction</a:t>
            </a:r>
          </a:p>
        </p:txBody>
      </p:sp>
      <p:cxnSp>
        <p:nvCxnSpPr>
          <p:cNvPr id="17" name="Connecteur droit 80">
            <a:extLst>
              <a:ext uri="{FF2B5EF4-FFF2-40B4-BE49-F238E27FC236}">
                <a16:creationId xmlns:a16="http://schemas.microsoft.com/office/drawing/2014/main" id="{C917BEE0-B270-BCAB-8B38-7F9237F9E415}"/>
              </a:ext>
            </a:extLst>
          </p:cNvPr>
          <p:cNvCxnSpPr>
            <a:cxnSpLocks/>
          </p:cNvCxnSpPr>
          <p:nvPr/>
        </p:nvCxnSpPr>
        <p:spPr>
          <a:xfrm flipV="1">
            <a:off x="697342" y="1458318"/>
            <a:ext cx="4911525" cy="0"/>
          </a:xfrm>
          <a:prstGeom prst="line">
            <a:avLst/>
          </a:prstGeom>
          <a:noFill/>
          <a:ln w="6350" cap="flat" cmpd="sng" algn="ctr">
            <a:solidFill>
              <a:srgbClr val="00007C"/>
            </a:solidFill>
            <a:prstDash val="solid"/>
            <a:miter lim="800000"/>
          </a:ln>
          <a:effectLst/>
        </p:spPr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C780B08B-1933-C5E4-56DC-874CB6B154AC}"/>
              </a:ext>
            </a:extLst>
          </p:cNvPr>
          <p:cNvSpPr/>
          <p:nvPr/>
        </p:nvSpPr>
        <p:spPr>
          <a:xfrm>
            <a:off x="3541709" y="3916060"/>
            <a:ext cx="1896420" cy="231657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endParaRPr lang="en-US" sz="1050" kern="0" dirty="0">
              <a:solidFill>
                <a:srgbClr val="023C65"/>
              </a:solidFill>
              <a:latin typeface="Helvetica" pitchFamily="2" charset="0"/>
            </a:endParaRPr>
          </a:p>
          <a:p>
            <a:pPr defTabSz="414622"/>
            <a:endParaRPr lang="en-US" sz="1050" kern="0" dirty="0">
              <a:solidFill>
                <a:srgbClr val="023C65"/>
              </a:solidFill>
              <a:latin typeface="Helvetica" pitchFamily="2" charset="0"/>
            </a:endParaRPr>
          </a:p>
          <a:p>
            <a:pPr marL="171450" indent="-171450" defTabSz="414622">
              <a:buFont typeface="Arial" panose="020B0604020202020204" pitchFamily="34" charset="0"/>
              <a:buChar char="•"/>
            </a:pPr>
            <a:endParaRPr lang="en-US" sz="1050" kern="0" dirty="0">
              <a:solidFill>
                <a:srgbClr val="023C65"/>
              </a:solidFill>
              <a:latin typeface="Helvetica" pitchFamily="2" charset="0"/>
            </a:endParaRPr>
          </a:p>
          <a:p>
            <a:pPr lvl="1" defTabSz="414622"/>
            <a:r>
              <a:rPr lang="en-US" sz="1400" b="1" kern="0" dirty="0">
                <a:solidFill>
                  <a:srgbClr val="023C65"/>
                </a:solidFill>
                <a:latin typeface="Helvetica" pitchFamily="2" charset="0"/>
              </a:rPr>
              <a:t>49% </a:t>
            </a:r>
            <a:r>
              <a:rPr lang="en-US" sz="1050" kern="0" dirty="0">
                <a:solidFill>
                  <a:srgbClr val="023C65"/>
                </a:solidFill>
                <a:latin typeface="Helvetica" pitchFamily="2" charset="0"/>
              </a:rPr>
              <a:t>of the </a:t>
            </a:r>
            <a:r>
              <a:rPr lang="en-US" sz="1050" kern="0" dirty="0" err="1">
                <a:solidFill>
                  <a:srgbClr val="023C65"/>
                </a:solidFill>
                <a:latin typeface="Helvetica" pitchFamily="2" charset="0"/>
              </a:rPr>
              <a:t>kgCO₂e</a:t>
            </a:r>
            <a:r>
              <a:rPr lang="en-US" sz="1050" kern="0" dirty="0">
                <a:solidFill>
                  <a:srgbClr val="023C65"/>
                </a:solidFill>
                <a:latin typeface="Helvetica" pitchFamily="2" charset="0"/>
              </a:rPr>
              <a:t> </a:t>
            </a:r>
            <a:r>
              <a:rPr lang="en-US" sz="1050" b="1" kern="0" dirty="0">
                <a:solidFill>
                  <a:srgbClr val="023C65"/>
                </a:solidFill>
                <a:latin typeface="Helvetica" pitchFamily="2" charset="0"/>
              </a:rPr>
              <a:t>2030</a:t>
            </a:r>
            <a:r>
              <a:rPr lang="en-US" sz="1050" kern="0" dirty="0">
                <a:solidFill>
                  <a:srgbClr val="023C65"/>
                </a:solidFill>
                <a:latin typeface="Helvetica" pitchFamily="2" charset="0"/>
              </a:rPr>
              <a:t> shortfall is caused by the </a:t>
            </a:r>
            <a:r>
              <a:rPr lang="en-US" sz="1400" b="1" kern="0" dirty="0">
                <a:solidFill>
                  <a:srgbClr val="023C65"/>
                </a:solidFill>
                <a:latin typeface="Helvetica" pitchFamily="2" charset="0"/>
              </a:rPr>
              <a:t>5</a:t>
            </a:r>
            <a:r>
              <a:rPr lang="en-US" sz="1050" kern="0" dirty="0">
                <a:solidFill>
                  <a:srgbClr val="023C65"/>
                </a:solidFill>
                <a:latin typeface="Helvetica" pitchFamily="2" charset="0"/>
              </a:rPr>
              <a:t> worst-performing assets by this measure</a:t>
            </a:r>
          </a:p>
          <a:p>
            <a:pPr marL="171450" indent="-171450" defTabSz="414622">
              <a:buFont typeface="Arial" panose="020B0604020202020204" pitchFamily="34" charset="0"/>
              <a:buChar char="•"/>
            </a:pPr>
            <a:endParaRPr lang="en-US" sz="1050" kern="0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62" name="Chevron 61">
            <a:extLst>
              <a:ext uri="{FF2B5EF4-FFF2-40B4-BE49-F238E27FC236}">
                <a16:creationId xmlns:a16="http://schemas.microsoft.com/office/drawing/2014/main" id="{18A59BB5-1E42-E64E-6A39-BB48E20EC1EB}"/>
              </a:ext>
            </a:extLst>
          </p:cNvPr>
          <p:cNvSpPr/>
          <p:nvPr/>
        </p:nvSpPr>
        <p:spPr>
          <a:xfrm>
            <a:off x="6309174" y="2243769"/>
            <a:ext cx="156030" cy="337828"/>
          </a:xfrm>
          <a:prstGeom prst="chevron">
            <a:avLst>
              <a:gd name="adj" fmla="val 70000"/>
            </a:avLst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4858A8E-C159-D749-4771-BDC6D3A05A38}"/>
              </a:ext>
            </a:extLst>
          </p:cNvPr>
          <p:cNvCxnSpPr>
            <a:cxnSpLocks/>
          </p:cNvCxnSpPr>
          <p:nvPr/>
        </p:nvCxnSpPr>
        <p:spPr>
          <a:xfrm flipH="1">
            <a:off x="6700827" y="3110149"/>
            <a:ext cx="4746750" cy="0"/>
          </a:xfrm>
          <a:prstGeom prst="line">
            <a:avLst/>
          </a:prstGeom>
          <a:ln w="19050">
            <a:solidFill>
              <a:srgbClr val="023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E83EA701-8AE1-6BF3-05B5-9EB0584CAE6F}"/>
              </a:ext>
            </a:extLst>
          </p:cNvPr>
          <p:cNvSpPr/>
          <p:nvPr/>
        </p:nvSpPr>
        <p:spPr>
          <a:xfrm rot="16200000">
            <a:off x="8864031" y="2881635"/>
            <a:ext cx="284725" cy="45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Chevron 75">
            <a:extLst>
              <a:ext uri="{FF2B5EF4-FFF2-40B4-BE49-F238E27FC236}">
                <a16:creationId xmlns:a16="http://schemas.microsoft.com/office/drawing/2014/main" id="{6B96ED62-AE82-09DC-8CB8-14DA583269D9}"/>
              </a:ext>
            </a:extLst>
          </p:cNvPr>
          <p:cNvSpPr/>
          <p:nvPr/>
        </p:nvSpPr>
        <p:spPr>
          <a:xfrm rot="5400000">
            <a:off x="8928378" y="2996530"/>
            <a:ext cx="156030" cy="337828"/>
          </a:xfrm>
          <a:prstGeom prst="chevron">
            <a:avLst>
              <a:gd name="adj" fmla="val 70000"/>
            </a:avLst>
          </a:prstGeom>
          <a:solidFill>
            <a:srgbClr val="023C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5AE4010-52BC-29D0-3815-476ABD410AA6}"/>
              </a:ext>
            </a:extLst>
          </p:cNvPr>
          <p:cNvSpPr/>
          <p:nvPr/>
        </p:nvSpPr>
        <p:spPr>
          <a:xfrm>
            <a:off x="6698707" y="1153327"/>
            <a:ext cx="5922348" cy="32582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r>
              <a:rPr lang="en-US" sz="1200" b="1" kern="0">
                <a:solidFill>
                  <a:srgbClr val="023C65"/>
                </a:solidFill>
                <a:latin typeface="Helvetica" pitchFamily="2" charset="0"/>
              </a:rPr>
              <a:t>CRREM 2030 Shortfall – Interpretation &amp; Portfolio Impact</a:t>
            </a:r>
          </a:p>
        </p:txBody>
      </p:sp>
      <p:cxnSp>
        <p:nvCxnSpPr>
          <p:cNvPr id="79" name="Connecteur droit 80">
            <a:extLst>
              <a:ext uri="{FF2B5EF4-FFF2-40B4-BE49-F238E27FC236}">
                <a16:creationId xmlns:a16="http://schemas.microsoft.com/office/drawing/2014/main" id="{8716E2CE-1DEC-41C3-51AA-71A833A5CCD7}"/>
              </a:ext>
            </a:extLst>
          </p:cNvPr>
          <p:cNvCxnSpPr>
            <a:cxnSpLocks/>
          </p:cNvCxnSpPr>
          <p:nvPr/>
        </p:nvCxnSpPr>
        <p:spPr>
          <a:xfrm>
            <a:off x="6698707" y="1471213"/>
            <a:ext cx="4452997" cy="0"/>
          </a:xfrm>
          <a:prstGeom prst="line">
            <a:avLst/>
          </a:prstGeom>
          <a:noFill/>
          <a:ln w="6350" cap="flat" cmpd="sng" algn="ctr">
            <a:solidFill>
              <a:srgbClr val="023C65"/>
            </a:solidFill>
            <a:prstDash val="solid"/>
            <a:miter lim="800000"/>
          </a:ln>
          <a:effectLst/>
        </p:spPr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403577E9-8FEA-2585-A246-7A987E6104BA}"/>
              </a:ext>
            </a:extLst>
          </p:cNvPr>
          <p:cNvSpPr/>
          <p:nvPr/>
        </p:nvSpPr>
        <p:spPr>
          <a:xfrm>
            <a:off x="6698707" y="3349623"/>
            <a:ext cx="4746750" cy="32582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r>
              <a:rPr lang="en-US" sz="1200" b="1" kern="0" dirty="0">
                <a:solidFill>
                  <a:srgbClr val="023C65"/>
                </a:solidFill>
                <a:latin typeface="Helvetica" pitchFamily="2" charset="0"/>
              </a:rPr>
              <a:t>Refurbish </a:t>
            </a:r>
            <a:r>
              <a:rPr lang="en-US" sz="1400" b="1" kern="0" dirty="0">
                <a:solidFill>
                  <a:srgbClr val="023C65"/>
                </a:solidFill>
                <a:latin typeface="Helvetica" pitchFamily="2" charset="0"/>
              </a:rPr>
              <a:t>18</a:t>
            </a:r>
            <a:r>
              <a:rPr lang="en-US" sz="1200" b="1" kern="0" dirty="0">
                <a:solidFill>
                  <a:srgbClr val="023C65"/>
                </a:solidFill>
                <a:latin typeface="Helvetica" pitchFamily="2" charset="0"/>
              </a:rPr>
              <a:t> assets to 2050 Target = Fund 2030 Compliant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3D82F-F847-3122-A920-47FA5310D35D}"/>
              </a:ext>
            </a:extLst>
          </p:cNvPr>
          <p:cNvSpPr/>
          <p:nvPr/>
        </p:nvSpPr>
        <p:spPr>
          <a:xfrm>
            <a:off x="7203721" y="1734040"/>
            <a:ext cx="4247923" cy="1187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rgbClr val="659ECA"/>
                </a:solidFill>
                <a:latin typeface="Helvetica" pitchFamily="2" charset="0"/>
              </a:rPr>
              <a:t>CRREM 2030 Shortfall is a measure of how far short each asset is in terms of the relevant 2030 target</a:t>
            </a:r>
          </a:p>
          <a:p>
            <a:endParaRPr lang="en-GB" sz="1000" dirty="0">
              <a:solidFill>
                <a:srgbClr val="659ECA"/>
              </a:solidFill>
              <a:latin typeface="Helvetica" pitchFamily="2" charset="0"/>
            </a:endParaRPr>
          </a:p>
          <a:p>
            <a:endParaRPr lang="en-GB" sz="700" dirty="0">
              <a:solidFill>
                <a:srgbClr val="659ECA"/>
              </a:solidFill>
              <a:latin typeface="Helvetica" pitchFamily="2" charset="0"/>
            </a:endParaRPr>
          </a:p>
          <a:p>
            <a:r>
              <a:rPr lang="en-GB" sz="1000" dirty="0">
                <a:solidFill>
                  <a:srgbClr val="659ECA"/>
                </a:solidFill>
                <a:latin typeface="Helvetica" pitchFamily="2" charset="0"/>
              </a:rPr>
              <a:t>Fund Managers can use this metric to assist in prioritisation of  assets for refurbishment or possibly disposal prior to 2030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24DC9A-6A19-4BF3-D67D-5A46E0DE8D1E}"/>
              </a:ext>
            </a:extLst>
          </p:cNvPr>
          <p:cNvSpPr/>
          <p:nvPr/>
        </p:nvSpPr>
        <p:spPr>
          <a:xfrm>
            <a:off x="3966993" y="2092363"/>
            <a:ext cx="1550910" cy="220644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endParaRPr lang="en-US" sz="1050" kern="0" dirty="0">
              <a:solidFill>
                <a:srgbClr val="023C65"/>
              </a:solidFill>
              <a:latin typeface="Helvetica" pitchFamily="2" charset="0"/>
            </a:endParaRPr>
          </a:p>
          <a:p>
            <a:pPr defTabSz="414622"/>
            <a:endParaRPr lang="en-US" sz="1050" kern="0" dirty="0">
              <a:solidFill>
                <a:srgbClr val="023C65"/>
              </a:solidFill>
              <a:latin typeface="Helvetica" pitchFamily="2" charset="0"/>
            </a:endParaRPr>
          </a:p>
          <a:p>
            <a:pPr defTabSz="414622"/>
            <a:r>
              <a:rPr lang="en-US" sz="1400" b="1" kern="0" dirty="0">
                <a:solidFill>
                  <a:srgbClr val="023C65"/>
                </a:solidFill>
                <a:latin typeface="Helvetica" pitchFamily="2" charset="0"/>
              </a:rPr>
              <a:t>59% </a:t>
            </a:r>
            <a:r>
              <a:rPr lang="en-US" sz="1050" kern="0" dirty="0">
                <a:solidFill>
                  <a:srgbClr val="023C65"/>
                </a:solidFill>
                <a:latin typeface="Helvetica" pitchFamily="2" charset="0"/>
              </a:rPr>
              <a:t>of the kWh </a:t>
            </a:r>
            <a:r>
              <a:rPr lang="en-US" sz="1050" b="1" kern="0" dirty="0">
                <a:solidFill>
                  <a:srgbClr val="023C65"/>
                </a:solidFill>
                <a:latin typeface="Helvetica" pitchFamily="2" charset="0"/>
              </a:rPr>
              <a:t>2030</a:t>
            </a:r>
            <a:r>
              <a:rPr lang="en-US" sz="1050" kern="0" dirty="0">
                <a:solidFill>
                  <a:srgbClr val="023C65"/>
                </a:solidFill>
                <a:latin typeface="Helvetica" pitchFamily="2" charset="0"/>
              </a:rPr>
              <a:t> shortfall is caused by the </a:t>
            </a:r>
            <a:r>
              <a:rPr lang="en-US" sz="1400" b="1" kern="0" dirty="0">
                <a:solidFill>
                  <a:srgbClr val="023C65"/>
                </a:solidFill>
                <a:latin typeface="Helvetica" pitchFamily="2" charset="0"/>
              </a:rPr>
              <a:t>5</a:t>
            </a:r>
            <a:r>
              <a:rPr lang="en-US" sz="1050" kern="0" dirty="0">
                <a:solidFill>
                  <a:srgbClr val="023C65"/>
                </a:solidFill>
                <a:latin typeface="Helvetica" pitchFamily="2" charset="0"/>
              </a:rPr>
              <a:t> worst-performing assets by this measure</a:t>
            </a:r>
          </a:p>
          <a:p>
            <a:pPr marL="171450" indent="-171450" defTabSz="414622">
              <a:buFont typeface="Arial" panose="020B0604020202020204" pitchFamily="34" charset="0"/>
              <a:buChar char="•"/>
            </a:pPr>
            <a:endParaRPr lang="en-US" sz="1050" kern="0" dirty="0">
              <a:solidFill>
                <a:srgbClr val="023C65"/>
              </a:solidFill>
              <a:latin typeface="Helvetica" pitchFamily="2" charset="0"/>
            </a:endParaRPr>
          </a:p>
          <a:p>
            <a:pPr marL="171450" indent="-171450" defTabSz="414622">
              <a:buFont typeface="Arial" panose="020B0604020202020204" pitchFamily="34" charset="0"/>
              <a:buChar char="•"/>
            </a:pPr>
            <a:endParaRPr lang="en-US" sz="1050" kern="0" dirty="0">
              <a:solidFill>
                <a:srgbClr val="023C65"/>
              </a:solidFill>
              <a:latin typeface="Helvetica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FB2C52-3299-7030-0092-8049F6398A78}"/>
              </a:ext>
            </a:extLst>
          </p:cNvPr>
          <p:cNvSpPr/>
          <p:nvPr/>
        </p:nvSpPr>
        <p:spPr>
          <a:xfrm>
            <a:off x="3662975" y="3945649"/>
            <a:ext cx="2041555" cy="457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14622">
              <a:defRPr/>
            </a:pPr>
            <a:endParaRPr lang="en-US" sz="2400" kern="0">
              <a:solidFill>
                <a:srgbClr val="E13C32"/>
              </a:solidFill>
              <a:latin typeface="FuturaTOT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689E87C-895D-BC3B-5B5F-BFF2760E3D34}"/>
              </a:ext>
            </a:extLst>
          </p:cNvPr>
          <p:cNvGraphicFramePr>
            <a:graphicFrameLocks noGrp="1"/>
          </p:cNvGraphicFramePr>
          <p:nvPr/>
        </p:nvGraphicFramePr>
        <p:xfrm>
          <a:off x="6698708" y="3783375"/>
          <a:ext cx="4795938" cy="1358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980">
                  <a:extLst>
                    <a:ext uri="{9D8B030D-6E8A-4147-A177-3AD203B41FA5}">
                      <a16:colId xmlns:a16="http://schemas.microsoft.com/office/drawing/2014/main" val="2681075917"/>
                    </a:ext>
                  </a:extLst>
                </a:gridCol>
                <a:gridCol w="983834">
                  <a:extLst>
                    <a:ext uri="{9D8B030D-6E8A-4147-A177-3AD203B41FA5}">
                      <a16:colId xmlns:a16="http://schemas.microsoft.com/office/drawing/2014/main" val="2373737409"/>
                    </a:ext>
                  </a:extLst>
                </a:gridCol>
                <a:gridCol w="1122944">
                  <a:extLst>
                    <a:ext uri="{9D8B030D-6E8A-4147-A177-3AD203B41FA5}">
                      <a16:colId xmlns:a16="http://schemas.microsoft.com/office/drawing/2014/main" val="3924381340"/>
                    </a:ext>
                  </a:extLst>
                </a:gridCol>
                <a:gridCol w="1597180">
                  <a:extLst>
                    <a:ext uri="{9D8B030D-6E8A-4147-A177-3AD203B41FA5}">
                      <a16:colId xmlns:a16="http://schemas.microsoft.com/office/drawing/2014/main" val="3055477263"/>
                    </a:ext>
                  </a:extLst>
                </a:gridCol>
              </a:tblGrid>
              <a:tr h="52171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Helvetica" pitchFamily="2" charset="0"/>
                        </a:rPr>
                        <a:t>PAI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23C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Helvetica" pitchFamily="2" charset="0"/>
                        </a:rPr>
                        <a:t>Fund Total 2023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23C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Helvetica" pitchFamily="2" charset="0"/>
                        </a:rPr>
                        <a:t>CRREM 2030 Target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23C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Helvetica" pitchFamily="2" charset="0"/>
                        </a:rPr>
                        <a:t>CRREM 2030 after 18 refurbishments</a:t>
                      </a:r>
                    </a:p>
                  </a:txBody>
                  <a:tcPr>
                    <a:lnB w="38100" cmpd="sng">
                      <a:noFill/>
                    </a:lnB>
                    <a:solidFill>
                      <a:srgbClr val="023C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60596"/>
                  </a:ext>
                </a:extLst>
              </a:tr>
              <a:tr h="4186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Total energy (kWh)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9ECA">
                        <a:alpha val="1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" pitchFamily="2" charset="0"/>
                        </a:rPr>
                        <a:t>             135.6m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9ECA">
                        <a:alpha val="1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 82.4m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9ECA">
                        <a:alpha val="1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375623"/>
                          </a:solidFill>
                          <a:effectLst/>
                          <a:latin typeface="Helvetica" pitchFamily="2" charset="0"/>
                        </a:rPr>
                        <a:t>                               81.8m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9ECA">
                        <a:alpha val="1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954863"/>
                  </a:ext>
                </a:extLst>
              </a:tr>
              <a:tr h="4186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Total GHG (</a:t>
                      </a:r>
                      <a:r>
                        <a:rPr lang="en-GB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kgC</a:t>
                      </a: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\</a:t>
                      </a:r>
                      <a:r>
                        <a:rPr lang="en-GB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O₂e</a:t>
                      </a: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9ECA">
                        <a:alpha val="1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" pitchFamily="2" charset="0"/>
                        </a:rPr>
                        <a:t>               28.3m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9ECA">
                        <a:alpha val="1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12.3m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9ECA">
                        <a:alpha val="1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Helvetica" pitchFamily="2" charset="0"/>
                        </a:rPr>
                        <a:t>                                 9.7m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9ECA">
                        <a:alpha val="1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866007"/>
                  </a:ext>
                </a:extLst>
              </a:tr>
            </a:tbl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1839743B-28F0-18F6-242B-58DA3DBE2618}"/>
              </a:ext>
            </a:extLst>
          </p:cNvPr>
          <p:cNvSpPr/>
          <p:nvPr/>
        </p:nvSpPr>
        <p:spPr>
          <a:xfrm>
            <a:off x="6880350" y="1927718"/>
            <a:ext cx="4855683" cy="232806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defTabSz="414622"/>
            <a:endParaRPr lang="en-US" sz="1200" b="1" kern="0">
              <a:solidFill>
                <a:srgbClr val="017180"/>
              </a:solidFill>
              <a:highlight>
                <a:srgbClr val="FFFF00"/>
              </a:highlight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687CDF-3812-45D7-D7F1-544449197AAA}"/>
              </a:ext>
            </a:extLst>
          </p:cNvPr>
          <p:cNvSpPr txBox="1"/>
          <p:nvPr/>
        </p:nvSpPr>
        <p:spPr>
          <a:xfrm>
            <a:off x="7423328" y="5366182"/>
            <a:ext cx="40324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4622"/>
            <a:r>
              <a:rPr lang="en-US" sz="1100" kern="0" dirty="0">
                <a:latin typeface="Helvetica" pitchFamily="2" charset="0"/>
              </a:rPr>
              <a:t>If the </a:t>
            </a:r>
            <a:r>
              <a:rPr lang="en-US" sz="1100" b="1" kern="0" dirty="0">
                <a:solidFill>
                  <a:srgbClr val="659ECA"/>
                </a:solidFill>
                <a:latin typeface="Helvetica" pitchFamily="2" charset="0"/>
              </a:rPr>
              <a:t>18</a:t>
            </a:r>
            <a:r>
              <a:rPr lang="en-US" sz="1100" kern="0" dirty="0">
                <a:solidFill>
                  <a:srgbClr val="659ECA"/>
                </a:solidFill>
                <a:latin typeface="Helvetica" pitchFamily="2" charset="0"/>
              </a:rPr>
              <a:t> poorest-performing assets </a:t>
            </a:r>
            <a:r>
              <a:rPr lang="en-US" sz="1000" kern="0" dirty="0">
                <a:solidFill>
                  <a:srgbClr val="659ECA"/>
                </a:solidFill>
                <a:latin typeface="Helvetica" pitchFamily="2" charset="0"/>
              </a:rPr>
              <a:t>(by energy intensity) </a:t>
            </a:r>
            <a:r>
              <a:rPr lang="en-US" sz="1100" kern="0" dirty="0">
                <a:solidFill>
                  <a:srgbClr val="659ECA"/>
                </a:solidFill>
                <a:latin typeface="Helvetica" pitchFamily="2" charset="0"/>
              </a:rPr>
              <a:t>are refurbished to meet the CRREM </a:t>
            </a:r>
            <a:r>
              <a:rPr lang="en-US" sz="1100" b="1" kern="0" dirty="0">
                <a:solidFill>
                  <a:srgbClr val="659ECA"/>
                </a:solidFill>
                <a:latin typeface="Helvetica" pitchFamily="2" charset="0"/>
              </a:rPr>
              <a:t>2050</a:t>
            </a:r>
            <a:r>
              <a:rPr lang="en-US" sz="1100" kern="0" dirty="0">
                <a:solidFill>
                  <a:srgbClr val="659ECA"/>
                </a:solidFill>
                <a:latin typeface="Helvetica" pitchFamily="2" charset="0"/>
              </a:rPr>
              <a:t> target within the next five years, the overall fund would become compliant with the CRREM </a:t>
            </a:r>
            <a:r>
              <a:rPr lang="en-US" sz="1100" b="1" kern="0" dirty="0">
                <a:solidFill>
                  <a:srgbClr val="659ECA"/>
                </a:solidFill>
                <a:latin typeface="Helvetica" pitchFamily="2" charset="0"/>
              </a:rPr>
              <a:t>2030</a:t>
            </a:r>
            <a:r>
              <a:rPr lang="en-US" sz="1100" kern="0" dirty="0">
                <a:solidFill>
                  <a:srgbClr val="659ECA"/>
                </a:solidFill>
                <a:latin typeface="Helvetica" pitchFamily="2" charset="0"/>
              </a:rPr>
              <a:t> target</a:t>
            </a:r>
          </a:p>
        </p:txBody>
      </p:sp>
      <p:pic>
        <p:nvPicPr>
          <p:cNvPr id="11" name="Graphic 10" descr="Gantt Chart outline">
            <a:extLst>
              <a:ext uri="{FF2B5EF4-FFF2-40B4-BE49-F238E27FC236}">
                <a16:creationId xmlns:a16="http://schemas.microsoft.com/office/drawing/2014/main" id="{F57CD3B6-1131-C14C-710E-8E23724A2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2814" y="1872405"/>
            <a:ext cx="385767" cy="385767"/>
          </a:xfrm>
          <a:prstGeom prst="rect">
            <a:avLst/>
          </a:prstGeom>
        </p:spPr>
      </p:pic>
      <p:pic>
        <p:nvPicPr>
          <p:cNvPr id="15" name="Graphic 14" descr="Priorities outline">
            <a:extLst>
              <a:ext uri="{FF2B5EF4-FFF2-40B4-BE49-F238E27FC236}">
                <a16:creationId xmlns:a16="http://schemas.microsoft.com/office/drawing/2014/main" id="{E4831FB0-0C87-4163-5347-CE5F123D4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6854" y="2382809"/>
            <a:ext cx="374626" cy="374626"/>
          </a:xfrm>
          <a:prstGeom prst="rect">
            <a:avLst/>
          </a:prstGeom>
        </p:spPr>
      </p:pic>
      <p:cxnSp>
        <p:nvCxnSpPr>
          <p:cNvPr id="21" name="Connecteur droit 80">
            <a:extLst>
              <a:ext uri="{FF2B5EF4-FFF2-40B4-BE49-F238E27FC236}">
                <a16:creationId xmlns:a16="http://schemas.microsoft.com/office/drawing/2014/main" id="{B48D5CC0-3056-6FD9-CEF3-591EC8E937F2}"/>
              </a:ext>
            </a:extLst>
          </p:cNvPr>
          <p:cNvCxnSpPr>
            <a:cxnSpLocks/>
          </p:cNvCxnSpPr>
          <p:nvPr/>
        </p:nvCxnSpPr>
        <p:spPr>
          <a:xfrm>
            <a:off x="6698707" y="3675447"/>
            <a:ext cx="4678410" cy="0"/>
          </a:xfrm>
          <a:prstGeom prst="line">
            <a:avLst/>
          </a:prstGeom>
          <a:noFill/>
          <a:ln w="6350" cap="flat" cmpd="sng" algn="ctr">
            <a:solidFill>
              <a:srgbClr val="00007C"/>
            </a:solidFill>
            <a:prstDash val="solid"/>
            <a:miter lim="800000"/>
          </a:ln>
          <a:effectLst/>
        </p:spPr>
      </p:cxnSp>
      <p:pic>
        <p:nvPicPr>
          <p:cNvPr id="31" name="Graphic 30" descr="Downward trend graph outline">
            <a:extLst>
              <a:ext uri="{FF2B5EF4-FFF2-40B4-BE49-F238E27FC236}">
                <a16:creationId xmlns:a16="http://schemas.microsoft.com/office/drawing/2014/main" id="{46738771-3C43-EA5B-74C8-8D5A45A14B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23148" y="5477839"/>
            <a:ext cx="508378" cy="50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58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1434</Words>
  <Application>Microsoft Macintosh PowerPoint</Application>
  <PresentationFormat>Widescreen</PresentationFormat>
  <Paragraphs>356</Paragraphs>
  <Slides>11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Aptos</vt:lpstr>
      <vt:lpstr>Aptos Display</vt:lpstr>
      <vt:lpstr>Arial</vt:lpstr>
      <vt:lpstr>BLK Fort</vt:lpstr>
      <vt:lpstr>Calibri</vt:lpstr>
      <vt:lpstr>Century Gothic</vt:lpstr>
      <vt:lpstr>FuturaTOT</vt:lpstr>
      <vt:lpstr>GT-Walsheim-Regular</vt:lpstr>
      <vt:lpstr>Helvetica</vt:lpstr>
      <vt:lpstr>nunito</vt:lpstr>
      <vt:lpstr>System Font Regular</vt:lpstr>
      <vt:lpstr>Wingdings 2</vt:lpstr>
      <vt:lpstr>Office Theme</vt:lpstr>
      <vt:lpstr>think-cell Slide</vt:lpstr>
      <vt:lpstr>   ESG Associate - Case Study    John Stephen   London - 12th December 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Stephen</dc:creator>
  <cp:lastModifiedBy>STEPHEN John</cp:lastModifiedBy>
  <cp:revision>1</cp:revision>
  <dcterms:created xsi:type="dcterms:W3CDTF">2025-11-14T16:27:50Z</dcterms:created>
  <dcterms:modified xsi:type="dcterms:W3CDTF">2025-12-11T20:45:58Z</dcterms:modified>
</cp:coreProperties>
</file>